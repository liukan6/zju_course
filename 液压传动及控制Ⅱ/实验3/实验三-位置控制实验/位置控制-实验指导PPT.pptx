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48" r:id="rId1"/>
  </p:sldMasterIdLst>
  <p:notesMasterIdLst>
    <p:notesMasterId r:id="rId21"/>
  </p:notesMasterIdLst>
  <p:sldIdLst>
    <p:sldId id="256" r:id="rId2"/>
    <p:sldId id="274" r:id="rId3"/>
    <p:sldId id="257" r:id="rId4"/>
    <p:sldId id="259" r:id="rId5"/>
    <p:sldId id="298" r:id="rId6"/>
    <p:sldId id="299" r:id="rId7"/>
    <p:sldId id="300" r:id="rId8"/>
    <p:sldId id="260" r:id="rId9"/>
    <p:sldId id="277" r:id="rId10"/>
    <p:sldId id="261" r:id="rId11"/>
    <p:sldId id="302" r:id="rId12"/>
    <p:sldId id="303" r:id="rId13"/>
    <p:sldId id="304" r:id="rId14"/>
    <p:sldId id="262" r:id="rId15"/>
    <p:sldId id="281" r:id="rId16"/>
    <p:sldId id="263" r:id="rId17"/>
    <p:sldId id="295" r:id="rId18"/>
    <p:sldId id="296" r:id="rId19"/>
    <p:sldId id="297" r:id="rId20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浅色样式 1 - 强调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3775" autoAdjust="0"/>
  </p:normalViewPr>
  <p:slideViewPr>
    <p:cSldViewPr>
      <p:cViewPr varScale="1">
        <p:scale>
          <a:sx n="86" d="100"/>
          <a:sy n="86" d="100"/>
        </p:scale>
        <p:origin x="73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7060FA-8C06-4810-864F-5AE162C48667}" type="datetimeFigureOut">
              <a:rPr lang="zh-CN" altLang="en-US" smtClean="0"/>
              <a:pPr/>
              <a:t>2025/5/8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75D6B6-9922-4F3A-B9F8-0EAFF94D32A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2008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2025/5/8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2025/5/8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2025/5/8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2025/5/8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2025/5/8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2025/5/8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2025/5/8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2025/5/8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2025/5/8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2025/5/8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2025/5/8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pPr/>
              <a:t>2025/5/8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7" Type="http://schemas.openxmlformats.org/officeDocument/2006/relationships/oleObject" Target="../embeddings/oleObject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9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H:\液压传动及控制2-实验\0-实验指导书-阀的性能测试\力和负载.jp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0" y="2143116"/>
            <a:ext cx="9144000" cy="2143140"/>
          </a:xfrm>
          <a:solidFill>
            <a:schemeClr val="bg1">
              <a:lumMod val="85000"/>
              <a:alpha val="54000"/>
            </a:schemeClr>
          </a:solidFill>
        </p:spPr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机电液一体化实验台</a:t>
            </a:r>
            <a:r>
              <a:rPr lang="en-US" altLang="zh-CN" dirty="0">
                <a:solidFill>
                  <a:schemeClr val="bg1"/>
                </a:solidFill>
              </a:rPr>
              <a:t/>
            </a:r>
            <a:br>
              <a:rPr lang="en-US" altLang="zh-CN" dirty="0">
                <a:solidFill>
                  <a:schemeClr val="bg1"/>
                </a:solidFill>
              </a:rPr>
            </a:br>
            <a:r>
              <a:rPr lang="zh-CN" altLang="en-US" dirty="0">
                <a:solidFill>
                  <a:schemeClr val="bg1"/>
                </a:solidFill>
              </a:rPr>
              <a:t>实验二：位置控制实验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1196752"/>
            <a:ext cx="8740126" cy="543386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9"/>
          <p:cNvPicPr>
            <a:picLocks noChangeAspect="1"/>
          </p:cNvPicPr>
          <p:nvPr/>
        </p:nvPicPr>
        <p:blipFill>
          <a:blip r:embed="rId2"/>
          <a:srcRect l="4076" t="15619" r="5512" b="2756"/>
          <a:stretch>
            <a:fillRect/>
          </a:stretch>
        </p:blipFill>
        <p:spPr>
          <a:xfrm>
            <a:off x="32639" y="943327"/>
            <a:ext cx="9144000" cy="574534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604639" y="1872021"/>
            <a:ext cx="648000" cy="216000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 anchorCtr="1">
            <a:spAutoFit/>
          </a:bodyPr>
          <a:lstStyle/>
          <a:p>
            <a:pPr algn="ctr"/>
            <a:r>
              <a:rPr lang="en-US" altLang="zh-CN" sz="1100" b="1" dirty="0"/>
              <a:t>A </a:t>
            </a:r>
            <a:r>
              <a:rPr lang="zh-CN" altLang="en-US" sz="1100" b="1" dirty="0"/>
              <a:t>口压力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33267" y="2417123"/>
            <a:ext cx="648000" cy="180000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 anchorCtr="1">
            <a:spAutoFit/>
          </a:bodyPr>
          <a:lstStyle/>
          <a:p>
            <a:pPr algn="ctr"/>
            <a:r>
              <a:rPr lang="en-US" altLang="zh-CN" sz="1100" b="1" dirty="0"/>
              <a:t>B </a:t>
            </a:r>
            <a:r>
              <a:rPr lang="zh-CN" altLang="en-US" sz="1100" b="1" dirty="0"/>
              <a:t>口压力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47779" y="3943723"/>
            <a:ext cx="571504" cy="50783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 anchorCtr="1">
            <a:spAutoFit/>
          </a:bodyPr>
          <a:lstStyle/>
          <a:p>
            <a:pPr algn="ctr"/>
            <a:r>
              <a:rPr lang="zh-CN" altLang="en-US" sz="1100" b="1" dirty="0"/>
              <a:t>比例溢流阀设定开启压力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76473" y="4488825"/>
            <a:ext cx="828000" cy="180000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 anchorCtr="1">
            <a:spAutoFit/>
          </a:bodyPr>
          <a:lstStyle/>
          <a:p>
            <a:pPr algn="ctr"/>
            <a:r>
              <a:rPr lang="zh-CN" altLang="en-US" sz="1100" b="1" dirty="0"/>
              <a:t>当前位置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76473" y="4872417"/>
            <a:ext cx="828000" cy="169277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 anchorCtr="1">
            <a:spAutoFit/>
          </a:bodyPr>
          <a:lstStyle/>
          <a:p>
            <a:pPr algn="ctr"/>
            <a:r>
              <a:rPr lang="zh-CN" altLang="en-US" sz="1100" b="1" dirty="0"/>
              <a:t>当前力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76473" y="5301045"/>
            <a:ext cx="828000" cy="169277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 anchorCtr="1">
            <a:spAutoFit/>
          </a:bodyPr>
          <a:lstStyle/>
          <a:p>
            <a:pPr algn="ctr"/>
            <a:r>
              <a:rPr lang="zh-CN" altLang="en-US" sz="1100" b="1" dirty="0"/>
              <a:t>当前速度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9797" y="5443921"/>
            <a:ext cx="648000" cy="169277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 anchorCtr="1">
            <a:spAutoFit/>
          </a:bodyPr>
          <a:lstStyle/>
          <a:p>
            <a:pPr algn="ctr"/>
            <a:r>
              <a:rPr lang="zh-CN" altLang="en-US" sz="1100" b="1" dirty="0"/>
              <a:t>实际电流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9797" y="5872549"/>
            <a:ext cx="648000" cy="169277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 anchorCtr="1">
            <a:spAutoFit/>
          </a:bodyPr>
          <a:lstStyle/>
          <a:p>
            <a:pPr algn="ctr"/>
            <a:r>
              <a:rPr lang="zh-CN" altLang="en-US" sz="1100" b="1" dirty="0"/>
              <a:t>实际功率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04771" y="4515228"/>
            <a:ext cx="785818" cy="169277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 anchorCtr="1">
            <a:spAutoFit/>
          </a:bodyPr>
          <a:lstStyle/>
          <a:p>
            <a:pPr algn="ctr"/>
            <a:r>
              <a:rPr lang="zh-CN" altLang="en-US" sz="1100" b="1" dirty="0"/>
              <a:t>阀芯指令值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04771" y="4943854"/>
            <a:ext cx="1000132" cy="216000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 anchorCtr="1">
            <a:spAutoFit/>
          </a:bodyPr>
          <a:lstStyle/>
          <a:p>
            <a:pPr algn="ctr"/>
            <a:r>
              <a:rPr lang="zh-CN" altLang="en-US" sz="1100" b="1" dirty="0"/>
              <a:t>阀芯实际反馈值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19085" y="2118401"/>
            <a:ext cx="571504" cy="468000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 anchorCtr="1">
            <a:spAutoFit/>
          </a:bodyPr>
          <a:lstStyle/>
          <a:p>
            <a:pPr algn="ctr"/>
            <a:r>
              <a:rPr lang="zh-CN" altLang="en-US" sz="1100" b="1" dirty="0"/>
              <a:t>比例溢流阀设定开启压力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0" y="0"/>
            <a:ext cx="3429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System IAC-</a:t>
            </a:r>
            <a:r>
              <a:rPr lang="zh-CN" altLang="en-US" dirty="0"/>
              <a:t>位置控制实验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92000" y="3816000"/>
            <a:ext cx="642942" cy="338554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 anchorCtr="1">
            <a:spAutoFit/>
          </a:bodyPr>
          <a:lstStyle/>
          <a:p>
            <a:pPr algn="ctr"/>
            <a:r>
              <a:rPr lang="zh-CN" altLang="en-US" sz="1100" b="1" dirty="0"/>
              <a:t>电磁换向阀状态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85918" y="5500702"/>
            <a:ext cx="648000" cy="169277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 anchorCtr="1">
            <a:spAutoFit/>
          </a:bodyPr>
          <a:lstStyle/>
          <a:p>
            <a:pPr algn="ctr"/>
            <a:r>
              <a:rPr lang="zh-CN" altLang="en-US" sz="1100" b="1" dirty="0"/>
              <a:t>实际转速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00364" y="5500702"/>
            <a:ext cx="648000" cy="169277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 anchorCtr="1">
            <a:spAutoFit/>
          </a:bodyPr>
          <a:lstStyle/>
          <a:p>
            <a:pPr algn="ctr"/>
            <a:r>
              <a:rPr lang="zh-CN" altLang="en-US" sz="1100" b="1" dirty="0"/>
              <a:t>实际压力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85918" y="5929330"/>
            <a:ext cx="648000" cy="169277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 anchorCtr="1">
            <a:spAutoFit/>
          </a:bodyPr>
          <a:lstStyle/>
          <a:p>
            <a:pPr algn="ctr"/>
            <a:r>
              <a:rPr lang="zh-CN" altLang="en-US" sz="1100" b="1" dirty="0"/>
              <a:t>设置转速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00364" y="5929330"/>
            <a:ext cx="648000" cy="169277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 anchorCtr="1">
            <a:spAutoFit/>
          </a:bodyPr>
          <a:lstStyle/>
          <a:p>
            <a:pPr algn="ctr"/>
            <a:r>
              <a:rPr lang="zh-CN" altLang="en-US" sz="1100" b="1" dirty="0"/>
              <a:t>设置压力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5429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Position Control Mode-</a:t>
            </a:r>
            <a:r>
              <a:rPr lang="zh-CN" altLang="en-US" dirty="0"/>
              <a:t>位置控制实验</a:t>
            </a:r>
          </a:p>
        </p:txBody>
      </p:sp>
      <p:pic>
        <p:nvPicPr>
          <p:cNvPr id="2" name="Picture 11"/>
          <p:cNvPicPr>
            <a:picLocks noChangeAspect="1"/>
          </p:cNvPicPr>
          <p:nvPr/>
        </p:nvPicPr>
        <p:blipFill>
          <a:blip r:embed="rId2"/>
          <a:srcRect l="1559" t="15406" r="5636" b="2226"/>
          <a:stretch>
            <a:fillRect/>
          </a:stretch>
        </p:blipFill>
        <p:spPr>
          <a:xfrm>
            <a:off x="0" y="1142984"/>
            <a:ext cx="9190364" cy="571501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86512" y="2214554"/>
            <a:ext cx="1800000" cy="24622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 anchorCtr="1">
            <a:spAutoFit/>
          </a:bodyPr>
          <a:lstStyle/>
          <a:p>
            <a:pPr algn="ctr"/>
            <a:r>
              <a:rPr lang="zh-CN" altLang="en-US" sz="1600" b="1" dirty="0"/>
              <a:t>位置控制模式使能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86512" y="3071810"/>
            <a:ext cx="1800000" cy="24622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 anchorCtr="1">
            <a:spAutoFit/>
          </a:bodyPr>
          <a:lstStyle/>
          <a:p>
            <a:pPr algn="ctr"/>
            <a:r>
              <a:rPr lang="en-US" altLang="zh-CN" sz="1600" b="1" dirty="0"/>
              <a:t>IAC</a:t>
            </a:r>
            <a:r>
              <a:rPr lang="zh-CN" altLang="en-US" sz="1600" b="1" dirty="0"/>
              <a:t>阀 位置控制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86512" y="3929066"/>
            <a:ext cx="1800000" cy="24622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 anchorCtr="1">
            <a:spAutoFit/>
          </a:bodyPr>
          <a:lstStyle/>
          <a:p>
            <a:pPr algn="ctr"/>
            <a:r>
              <a:rPr lang="zh-CN" altLang="en-US" sz="1600" b="1" dirty="0"/>
              <a:t>位置控制程序框图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86512" y="4786322"/>
            <a:ext cx="1800000" cy="24622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 anchorCtr="1">
            <a:spAutoFit/>
          </a:bodyPr>
          <a:lstStyle/>
          <a:p>
            <a:pPr algn="ctr"/>
            <a:r>
              <a:rPr lang="zh-CN" altLang="en-US" sz="1600" b="1" dirty="0"/>
              <a:t>参数设置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3"/>
          <p:cNvPicPr>
            <a:picLocks noChangeAspect="1"/>
          </p:cNvPicPr>
          <p:nvPr/>
        </p:nvPicPr>
        <p:blipFill>
          <a:blip r:embed="rId2"/>
          <a:srcRect l="1613" t="15940" r="5645" b="2087"/>
          <a:stretch>
            <a:fillRect/>
          </a:stretch>
        </p:blipFill>
        <p:spPr>
          <a:xfrm>
            <a:off x="251520" y="980728"/>
            <a:ext cx="8748465" cy="54773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0"/>
            <a:ext cx="4357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System IAC-</a:t>
            </a:r>
            <a:r>
              <a:rPr lang="zh-CN" altLang="en-US" dirty="0"/>
              <a:t>位置控制实验</a:t>
            </a:r>
            <a:r>
              <a:rPr lang="en-US" altLang="zh-CN" dirty="0"/>
              <a:t>-</a:t>
            </a:r>
            <a:r>
              <a:rPr lang="zh-CN" altLang="en-US" dirty="0"/>
              <a:t>系统框图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4"/>
          <p:cNvPicPr>
            <a:picLocks noChangeAspect="1"/>
          </p:cNvPicPr>
          <p:nvPr/>
        </p:nvPicPr>
        <p:blipFill>
          <a:blip r:embed="rId2"/>
          <a:srcRect l="2480" t="16115" r="5785" b="2178"/>
          <a:stretch>
            <a:fillRect/>
          </a:stretch>
        </p:blipFill>
        <p:spPr>
          <a:xfrm>
            <a:off x="0" y="679597"/>
            <a:ext cx="9144000" cy="617840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3286124"/>
            <a:ext cx="2428892" cy="304698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Read </a:t>
            </a:r>
            <a:r>
              <a:rPr lang="en-US" altLang="zh-CN" sz="1600" dirty="0" err="1"/>
              <a:t>para</a:t>
            </a:r>
            <a:r>
              <a:rPr lang="en-US" altLang="zh-CN" sz="1600" dirty="0"/>
              <a:t> from controller </a:t>
            </a:r>
          </a:p>
          <a:p>
            <a:r>
              <a:rPr lang="zh-CN" altLang="en-US" sz="1600" dirty="0"/>
              <a:t>把控制器参数读取到</a:t>
            </a:r>
            <a:r>
              <a:rPr lang="en-US" altLang="zh-CN" sz="1600" dirty="0"/>
              <a:t>current</a:t>
            </a:r>
            <a:r>
              <a:rPr lang="zh-CN" altLang="en-US" sz="1600" dirty="0"/>
              <a:t>栏目</a:t>
            </a:r>
            <a:endParaRPr lang="en-US" altLang="zh-CN" sz="1600" dirty="0"/>
          </a:p>
          <a:p>
            <a:r>
              <a:rPr lang="en-US" altLang="zh-CN" sz="1600" dirty="0"/>
              <a:t>Load </a:t>
            </a:r>
            <a:r>
              <a:rPr lang="en-US" altLang="zh-CN" sz="1600" dirty="0" err="1"/>
              <a:t>para</a:t>
            </a:r>
            <a:r>
              <a:rPr lang="en-US" altLang="zh-CN" sz="1600" dirty="0"/>
              <a:t> from controller</a:t>
            </a:r>
          </a:p>
          <a:p>
            <a:r>
              <a:rPr lang="zh-CN" altLang="en-US" sz="1600" dirty="0"/>
              <a:t>把</a:t>
            </a:r>
            <a:r>
              <a:rPr lang="en-US" altLang="zh-CN" sz="1600" dirty="0"/>
              <a:t>current</a:t>
            </a:r>
            <a:r>
              <a:rPr lang="zh-CN" altLang="en-US" sz="1600" dirty="0"/>
              <a:t>栏目参数</a:t>
            </a:r>
            <a:r>
              <a:rPr lang="en-US" altLang="zh-CN" sz="1600" dirty="0"/>
              <a:t>copy</a:t>
            </a:r>
            <a:r>
              <a:rPr lang="zh-CN" altLang="en-US" sz="1600" dirty="0"/>
              <a:t>到</a:t>
            </a:r>
            <a:r>
              <a:rPr lang="en-US" altLang="zh-CN" sz="1600" dirty="0"/>
              <a:t>set value</a:t>
            </a:r>
            <a:r>
              <a:rPr lang="zh-CN" altLang="en-US" sz="1600" dirty="0"/>
              <a:t>栏目</a:t>
            </a:r>
            <a:endParaRPr lang="en-US" altLang="zh-CN" sz="1600" dirty="0"/>
          </a:p>
          <a:p>
            <a:r>
              <a:rPr lang="en-US" altLang="zh-CN" sz="1600" dirty="0"/>
              <a:t>Write </a:t>
            </a:r>
            <a:r>
              <a:rPr lang="en-US" altLang="zh-CN" sz="1600" dirty="0" err="1"/>
              <a:t>para</a:t>
            </a:r>
            <a:r>
              <a:rPr lang="en-US" altLang="zh-CN" sz="1600" dirty="0"/>
              <a:t> from controller</a:t>
            </a:r>
          </a:p>
          <a:p>
            <a:r>
              <a:rPr lang="zh-CN" altLang="en-US" sz="1600" dirty="0"/>
              <a:t>把</a:t>
            </a:r>
            <a:r>
              <a:rPr lang="en-US" altLang="zh-CN" sz="1600" dirty="0"/>
              <a:t>set value</a:t>
            </a:r>
            <a:r>
              <a:rPr lang="zh-CN" altLang="en-US" sz="1600" dirty="0"/>
              <a:t>的参数写到控制器，但是不会掉电保存 </a:t>
            </a:r>
            <a:endParaRPr lang="en-US" altLang="zh-CN" sz="1600" dirty="0"/>
          </a:p>
          <a:p>
            <a:r>
              <a:rPr lang="en-US" altLang="zh-CN" sz="1600" dirty="0"/>
              <a:t>Save para from controller</a:t>
            </a:r>
          </a:p>
          <a:p>
            <a:r>
              <a:rPr lang="zh-CN" altLang="en-US" sz="1600" dirty="0"/>
              <a:t>把</a:t>
            </a:r>
            <a:r>
              <a:rPr lang="en-US" altLang="zh-CN" sz="1600" dirty="0"/>
              <a:t>set value</a:t>
            </a:r>
            <a:r>
              <a:rPr lang="zh-CN" altLang="en-US" sz="1600" dirty="0"/>
              <a:t>的参数写到控制器并永久保存</a:t>
            </a:r>
            <a:endParaRPr lang="en-US" altLang="zh-CN" sz="1600" dirty="0"/>
          </a:p>
        </p:txBody>
      </p:sp>
      <p:sp>
        <p:nvSpPr>
          <p:cNvPr id="4" name="TextBox 3"/>
          <p:cNvSpPr txBox="1"/>
          <p:nvPr/>
        </p:nvSpPr>
        <p:spPr>
          <a:xfrm>
            <a:off x="0" y="0"/>
            <a:ext cx="4357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System IAC-</a:t>
            </a:r>
            <a:r>
              <a:rPr lang="zh-CN" altLang="en-US" dirty="0"/>
              <a:t>位置控制实验</a:t>
            </a:r>
            <a:r>
              <a:rPr lang="en-US" altLang="zh-CN" dirty="0"/>
              <a:t>-</a:t>
            </a:r>
            <a:r>
              <a:rPr lang="zh-CN" altLang="en-US" dirty="0"/>
              <a:t>参数设置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0"/>
            <a:ext cx="457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位置控制系统框图</a:t>
            </a:r>
          </a:p>
        </p:txBody>
      </p:sp>
      <p:graphicFrame>
        <p:nvGraphicFramePr>
          <p:cNvPr id="20" name="表格 19"/>
          <p:cNvGraphicFramePr>
            <a:graphicFrameLocks noGrp="1"/>
          </p:cNvGraphicFramePr>
          <p:nvPr/>
        </p:nvGraphicFramePr>
        <p:xfrm>
          <a:off x="214283" y="5000636"/>
          <a:ext cx="4143403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20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768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43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01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/>
                        <a:t>序号</a:t>
                      </a:r>
                    </a:p>
                  </a:txBody>
                  <a:tcPr marL="18000" marR="1800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Output adjustment</a:t>
                      </a:r>
                      <a:endParaRPr lang="zh-CN" altLang="en-US" sz="1200" dirty="0"/>
                    </a:p>
                  </a:txBody>
                  <a:tcPr marL="18000" marR="1800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/>
                        <a:t>说明</a:t>
                      </a:r>
                    </a:p>
                  </a:txBody>
                  <a:tcPr marL="18000" marR="18000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/>
                        <a:t>Current value</a:t>
                      </a:r>
                      <a:endParaRPr lang="zh-CN" altLang="en-US" sz="1200" dirty="0"/>
                    </a:p>
                  </a:txBody>
                  <a:tcPr marL="18000" marR="1800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marL="18000" marR="1800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200" dirty="0"/>
                        <a:t>Valve standard velocity [mm/s]</a:t>
                      </a:r>
                      <a:endParaRPr lang="zh-CN" altLang="en-US" sz="1200" dirty="0"/>
                    </a:p>
                  </a:txBody>
                  <a:tcPr marL="18000" marR="1800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marL="18000" marR="1800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200</a:t>
                      </a:r>
                      <a:endParaRPr lang="zh-CN" altLang="en-US" sz="1200" dirty="0"/>
                    </a:p>
                  </a:txBody>
                  <a:tcPr marL="18000" marR="1800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2</a:t>
                      </a:r>
                      <a:endParaRPr lang="zh-CN" altLang="en-US" sz="1200" dirty="0"/>
                    </a:p>
                  </a:txBody>
                  <a:tcPr marL="18000" marR="1800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200" dirty="0"/>
                        <a:t>Direction-dependent gain</a:t>
                      </a:r>
                      <a:endParaRPr lang="zh-CN" altLang="en-US" sz="1200" dirty="0"/>
                    </a:p>
                  </a:txBody>
                  <a:tcPr marL="18000" marR="1800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marL="18000" marR="1800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1.9</a:t>
                      </a:r>
                      <a:endParaRPr lang="zh-CN" altLang="en-US" sz="1200" dirty="0"/>
                    </a:p>
                  </a:txBody>
                  <a:tcPr marL="18000" marR="1800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3</a:t>
                      </a:r>
                      <a:endParaRPr lang="zh-CN" altLang="en-US" sz="1200" dirty="0"/>
                    </a:p>
                  </a:txBody>
                  <a:tcPr marL="18000" marR="1800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200" dirty="0"/>
                        <a:t>Valve offset [%]</a:t>
                      </a:r>
                      <a:endParaRPr lang="zh-CN" altLang="en-US" sz="1200" dirty="0"/>
                    </a:p>
                  </a:txBody>
                  <a:tcPr marL="18000" marR="1800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marL="18000" marR="1800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0.25</a:t>
                      </a:r>
                      <a:endParaRPr lang="zh-CN" altLang="en-US" sz="1200" dirty="0"/>
                    </a:p>
                  </a:txBody>
                  <a:tcPr marL="18000" marR="1800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4</a:t>
                      </a:r>
                      <a:endParaRPr lang="zh-CN" altLang="en-US" sz="1200" dirty="0"/>
                    </a:p>
                  </a:txBody>
                  <a:tcPr marL="18000" marR="1800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200" dirty="0"/>
                        <a:t>Output filter [ms]</a:t>
                      </a:r>
                      <a:endParaRPr lang="zh-CN" altLang="en-US" sz="1200" dirty="0"/>
                    </a:p>
                  </a:txBody>
                  <a:tcPr marL="18000" marR="1800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marL="18000" marR="1800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marL="18000" marR="1800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19" name="组合 24"/>
          <p:cNvGrpSpPr/>
          <p:nvPr/>
        </p:nvGrpSpPr>
        <p:grpSpPr>
          <a:xfrm>
            <a:off x="0" y="428604"/>
            <a:ext cx="9144000" cy="4214842"/>
            <a:chOff x="0" y="357166"/>
            <a:chExt cx="9144000" cy="4214842"/>
          </a:xfrm>
        </p:grpSpPr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357166"/>
              <a:ext cx="9144000" cy="4214842"/>
            </a:xfrm>
            <a:prstGeom prst="rect">
              <a:avLst/>
            </a:prstGeom>
            <a:ln w="19050">
              <a:noFill/>
            </a:ln>
          </p:spPr>
        </p:pic>
        <p:sp>
          <p:nvSpPr>
            <p:cNvPr id="5" name="椭圆 4"/>
            <p:cNvSpPr/>
            <p:nvPr/>
          </p:nvSpPr>
          <p:spPr>
            <a:xfrm>
              <a:off x="714348" y="2000240"/>
              <a:ext cx="216000" cy="216000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42900" indent="-342900" algn="ctr"/>
              <a:r>
                <a:rPr lang="en-US" altLang="zh-CN" sz="1400" dirty="0">
                  <a:solidFill>
                    <a:schemeClr val="tx1"/>
                  </a:solidFill>
                </a:rPr>
                <a:t>1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3357554" y="1820240"/>
              <a:ext cx="180000" cy="180000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lstStyle/>
            <a:p>
              <a:pPr marL="342900" indent="-342900" algn="ctr"/>
              <a:r>
                <a:rPr lang="en-US" altLang="zh-CN" sz="1400" dirty="0">
                  <a:solidFill>
                    <a:schemeClr val="tx1"/>
                  </a:solidFill>
                </a:rPr>
                <a:t>2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7" name="椭圆 6"/>
            <p:cNvSpPr/>
            <p:nvPr/>
          </p:nvSpPr>
          <p:spPr>
            <a:xfrm>
              <a:off x="4929190" y="2320306"/>
              <a:ext cx="180000" cy="180000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lstStyle/>
            <a:p>
              <a:pPr marL="342900" indent="-342900" algn="ctr"/>
              <a:r>
                <a:rPr lang="en-US" altLang="zh-CN" sz="1400" dirty="0">
                  <a:solidFill>
                    <a:schemeClr val="tx1"/>
                  </a:solidFill>
                </a:rPr>
                <a:t>3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8" name="椭圆 7"/>
            <p:cNvSpPr/>
            <p:nvPr/>
          </p:nvSpPr>
          <p:spPr>
            <a:xfrm>
              <a:off x="4929190" y="2571744"/>
              <a:ext cx="180000" cy="180000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lstStyle/>
            <a:p>
              <a:pPr marL="342900" indent="-342900" algn="ctr"/>
              <a:r>
                <a:rPr lang="en-US" altLang="zh-CN" sz="1400" dirty="0">
                  <a:solidFill>
                    <a:schemeClr val="tx1"/>
                  </a:solidFill>
                </a:rPr>
                <a:t>4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9" name="椭圆 8"/>
            <p:cNvSpPr/>
            <p:nvPr/>
          </p:nvSpPr>
          <p:spPr>
            <a:xfrm>
              <a:off x="2000232" y="1857364"/>
              <a:ext cx="180000" cy="180000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lstStyle/>
            <a:p>
              <a:pPr marL="342900" indent="-342900" algn="ctr"/>
              <a:r>
                <a:rPr lang="en-US" altLang="zh-CN" sz="1400" dirty="0">
                  <a:solidFill>
                    <a:schemeClr val="tx1"/>
                  </a:solidFill>
                </a:rPr>
                <a:t>5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2714612" y="1857364"/>
              <a:ext cx="180000" cy="180000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lstStyle/>
            <a:p>
              <a:pPr marL="342900" indent="-342900" algn="ctr"/>
              <a:r>
                <a:rPr lang="en-US" altLang="zh-CN" sz="1400" dirty="0">
                  <a:solidFill>
                    <a:schemeClr val="tx1"/>
                  </a:solidFill>
                </a:rPr>
                <a:t>6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1" name="椭圆 10"/>
            <p:cNvSpPr/>
            <p:nvPr/>
          </p:nvSpPr>
          <p:spPr>
            <a:xfrm>
              <a:off x="2034546" y="2391744"/>
              <a:ext cx="180000" cy="180000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lstStyle/>
            <a:p>
              <a:pPr marL="342900" indent="-342900" algn="ctr"/>
              <a:r>
                <a:rPr lang="en-US" altLang="zh-CN" sz="1400" dirty="0">
                  <a:solidFill>
                    <a:schemeClr val="tx1"/>
                  </a:solidFill>
                </a:rPr>
                <a:t>7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2" name="椭圆 11"/>
            <p:cNvSpPr/>
            <p:nvPr/>
          </p:nvSpPr>
          <p:spPr>
            <a:xfrm>
              <a:off x="3857620" y="1214422"/>
              <a:ext cx="180000" cy="180000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lstStyle/>
            <a:p>
              <a:pPr marL="342900" indent="-342900" algn="ctr"/>
              <a:r>
                <a:rPr lang="en-US" altLang="zh-CN" sz="1400" dirty="0">
                  <a:solidFill>
                    <a:schemeClr val="tx1"/>
                  </a:solidFill>
                </a:rPr>
                <a:t>8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>
              <a:off x="5034942" y="1677364"/>
              <a:ext cx="180000" cy="180000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lstStyle/>
            <a:p>
              <a:pPr marL="342900" indent="-342900" algn="ctr"/>
              <a:r>
                <a:rPr lang="en-US" altLang="zh-CN" sz="1400" dirty="0">
                  <a:solidFill>
                    <a:schemeClr val="tx1"/>
                  </a:solidFill>
                </a:rPr>
                <a:t>9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4784066" y="1891678"/>
              <a:ext cx="288000" cy="180000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lstStyle/>
            <a:p>
              <a:pPr marL="342900" indent="-342900" algn="ctr"/>
              <a:r>
                <a:rPr lang="en-US" altLang="zh-CN" sz="1400" dirty="0">
                  <a:solidFill>
                    <a:schemeClr val="tx1"/>
                  </a:solidFill>
                </a:rPr>
                <a:t>10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5" name="椭圆 14"/>
            <p:cNvSpPr/>
            <p:nvPr/>
          </p:nvSpPr>
          <p:spPr>
            <a:xfrm>
              <a:off x="5214942" y="1285860"/>
              <a:ext cx="288000" cy="180000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lstStyle/>
            <a:p>
              <a:pPr marL="342900" indent="-342900" algn="ctr"/>
              <a:r>
                <a:rPr lang="en-US" altLang="zh-CN" sz="1400" dirty="0">
                  <a:solidFill>
                    <a:schemeClr val="tx1"/>
                  </a:solidFill>
                </a:rPr>
                <a:t>11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6" name="椭圆 15"/>
            <p:cNvSpPr/>
            <p:nvPr/>
          </p:nvSpPr>
          <p:spPr>
            <a:xfrm>
              <a:off x="2571736" y="928670"/>
              <a:ext cx="288000" cy="180000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lstStyle/>
            <a:p>
              <a:pPr marL="342900" indent="-342900" algn="ctr"/>
              <a:r>
                <a:rPr lang="en-US" altLang="zh-CN" sz="1400" dirty="0">
                  <a:solidFill>
                    <a:schemeClr val="tx1"/>
                  </a:solidFill>
                </a:rPr>
                <a:t>12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7" name="椭圆 16"/>
            <p:cNvSpPr/>
            <p:nvPr/>
          </p:nvSpPr>
          <p:spPr>
            <a:xfrm>
              <a:off x="2855240" y="3357562"/>
              <a:ext cx="288000" cy="180000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lstStyle/>
            <a:p>
              <a:pPr marL="342900" indent="-342900" algn="ctr"/>
              <a:r>
                <a:rPr lang="en-US" altLang="zh-CN" sz="1400" dirty="0">
                  <a:solidFill>
                    <a:schemeClr val="tx1"/>
                  </a:solidFill>
                </a:rPr>
                <a:t>13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" name="椭圆 17"/>
            <p:cNvSpPr/>
            <p:nvPr/>
          </p:nvSpPr>
          <p:spPr>
            <a:xfrm>
              <a:off x="2069422" y="3534752"/>
              <a:ext cx="288000" cy="180000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lstStyle/>
            <a:p>
              <a:pPr marL="342900" indent="-342900" algn="ctr"/>
              <a:r>
                <a:rPr lang="en-US" altLang="zh-CN" sz="1400" dirty="0">
                  <a:solidFill>
                    <a:schemeClr val="tx1"/>
                  </a:solidFill>
                </a:rPr>
                <a:t>14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21" name="椭圆 20"/>
            <p:cNvSpPr/>
            <p:nvPr/>
          </p:nvSpPr>
          <p:spPr>
            <a:xfrm>
              <a:off x="7500958" y="1785926"/>
              <a:ext cx="180000" cy="180000"/>
            </a:xfrm>
            <a:prstGeom prst="ellipse">
              <a:avLst/>
            </a:prstGeom>
            <a:noFill/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lstStyle/>
            <a:p>
              <a:pPr marL="342900" indent="-342900" algn="ctr"/>
              <a:r>
                <a:rPr lang="en-US" altLang="zh-CN" sz="1400" dirty="0">
                  <a:solidFill>
                    <a:schemeClr val="tx1"/>
                  </a:solidFill>
                </a:rPr>
                <a:t>1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22" name="椭圆 21"/>
            <p:cNvSpPr/>
            <p:nvPr/>
          </p:nvSpPr>
          <p:spPr>
            <a:xfrm>
              <a:off x="8358214" y="1857364"/>
              <a:ext cx="180000" cy="180000"/>
            </a:xfrm>
            <a:prstGeom prst="ellipse">
              <a:avLst/>
            </a:prstGeom>
            <a:noFill/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lstStyle/>
            <a:p>
              <a:pPr marL="342900" indent="-342900" algn="ctr"/>
              <a:r>
                <a:rPr lang="en-US" altLang="zh-CN" sz="1400" dirty="0">
                  <a:solidFill>
                    <a:schemeClr val="tx1"/>
                  </a:solidFill>
                </a:rPr>
                <a:t>2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7358082" y="3357562"/>
              <a:ext cx="180000" cy="180000"/>
            </a:xfrm>
            <a:prstGeom prst="ellipse">
              <a:avLst/>
            </a:prstGeom>
            <a:noFill/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lstStyle/>
            <a:p>
              <a:pPr marL="342900" indent="-342900" algn="ctr"/>
              <a:r>
                <a:rPr lang="en-US" altLang="zh-CN" sz="1400" dirty="0">
                  <a:solidFill>
                    <a:schemeClr val="tx1"/>
                  </a:solidFill>
                </a:rPr>
                <a:t>3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24" name="椭圆 23"/>
            <p:cNvSpPr/>
            <p:nvPr/>
          </p:nvSpPr>
          <p:spPr>
            <a:xfrm>
              <a:off x="7358082" y="2643182"/>
              <a:ext cx="180000" cy="180000"/>
            </a:xfrm>
            <a:prstGeom prst="ellipse">
              <a:avLst/>
            </a:prstGeom>
            <a:noFill/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lstStyle/>
            <a:p>
              <a:pPr marL="342900" indent="-342900" algn="ctr"/>
              <a:r>
                <a:rPr lang="en-US" altLang="zh-CN" sz="1400" dirty="0">
                  <a:solidFill>
                    <a:schemeClr val="tx1"/>
                  </a:solidFill>
                </a:rPr>
                <a:t>4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</p:grp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4500562" y="3929066"/>
          <a:ext cx="4286282" cy="284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1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74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15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01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896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/>
                        <a:t>序号</a:t>
                      </a:r>
                    </a:p>
                  </a:txBody>
                  <a:tcPr marL="18000" marR="1800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Position controller</a:t>
                      </a:r>
                      <a:endParaRPr lang="zh-CN" altLang="en-US" sz="1200" dirty="0"/>
                    </a:p>
                  </a:txBody>
                  <a:tcPr marL="18000" marR="1800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/>
                        <a:t>说明</a:t>
                      </a:r>
                    </a:p>
                  </a:txBody>
                  <a:tcPr marL="18000" marR="1800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Current value</a:t>
                      </a:r>
                      <a:endParaRPr lang="zh-CN" altLang="en-US" sz="1200" dirty="0"/>
                    </a:p>
                  </a:txBody>
                  <a:tcPr marL="18000" marR="1800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96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</a:t>
                      </a:r>
                      <a:endParaRPr lang="zh-CN" altLang="en-US" sz="1200" dirty="0"/>
                    </a:p>
                  </a:txBody>
                  <a:tcPr marL="18000" marR="18000"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200" dirty="0"/>
                        <a:t>Position monitor window [mm]</a:t>
                      </a:r>
                      <a:endParaRPr lang="zh-CN" altLang="en-US" sz="1200" dirty="0"/>
                    </a:p>
                  </a:txBody>
                  <a:tcPr marL="18000" marR="18000" marT="0" marB="0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/>
                    </a:p>
                  </a:txBody>
                  <a:tcPr marL="18000" marR="1800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marL="18000" marR="1800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96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2</a:t>
                      </a:r>
                      <a:endParaRPr lang="zh-CN" altLang="en-US" sz="1200" dirty="0"/>
                    </a:p>
                  </a:txBody>
                  <a:tcPr marL="18000" marR="18000"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200" dirty="0" err="1"/>
                        <a:t>Kv</a:t>
                      </a:r>
                      <a:r>
                        <a:rPr lang="en-US" altLang="zh-CN" sz="1200" dirty="0"/>
                        <a:t>-factor [1000/min]</a:t>
                      </a:r>
                      <a:endParaRPr lang="zh-CN" altLang="en-US" sz="1200" dirty="0"/>
                    </a:p>
                  </a:txBody>
                  <a:tcPr marL="18000" marR="1800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/>
                        <a:t>比例</a:t>
                      </a:r>
                    </a:p>
                  </a:txBody>
                  <a:tcPr marL="18000" marR="1800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0.5</a:t>
                      </a:r>
                      <a:endParaRPr lang="zh-CN" altLang="en-US" sz="1200" dirty="0"/>
                    </a:p>
                  </a:txBody>
                  <a:tcPr marL="18000" marR="1800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96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3</a:t>
                      </a:r>
                      <a:endParaRPr lang="zh-CN" altLang="en-US" sz="1200" dirty="0"/>
                    </a:p>
                  </a:txBody>
                  <a:tcPr marL="18000" marR="18000"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200" dirty="0"/>
                        <a:t>Time constant D-component</a:t>
                      </a:r>
                      <a:r>
                        <a:rPr lang="en-US" altLang="zh-CN" sz="1200" baseline="0" dirty="0"/>
                        <a:t> [ms]</a:t>
                      </a:r>
                      <a:endParaRPr lang="zh-CN" altLang="en-US" sz="1200" dirty="0"/>
                    </a:p>
                  </a:txBody>
                  <a:tcPr marL="18000" marR="18000" marT="0" marB="0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marL="18000" marR="1800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marL="18000" marR="1800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96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4</a:t>
                      </a:r>
                      <a:endParaRPr lang="zh-CN" altLang="en-US" sz="1200" dirty="0"/>
                    </a:p>
                  </a:txBody>
                  <a:tcPr marL="18000" marR="18000"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200" dirty="0"/>
                        <a:t>Filter</a:t>
                      </a:r>
                      <a:r>
                        <a:rPr lang="en-US" altLang="zh-CN" sz="1200" baseline="0" dirty="0"/>
                        <a:t> time D-component [ms]</a:t>
                      </a:r>
                      <a:endParaRPr lang="zh-CN" altLang="en-US" sz="1200" dirty="0"/>
                    </a:p>
                  </a:txBody>
                  <a:tcPr marL="18000" marR="18000" marT="0" marB="0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/>
                    </a:p>
                  </a:txBody>
                  <a:tcPr marL="18000" marR="1800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marL="18000" marR="1800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96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5</a:t>
                      </a:r>
                      <a:endParaRPr lang="zh-CN" altLang="en-US" sz="1200" dirty="0"/>
                    </a:p>
                  </a:txBody>
                  <a:tcPr marL="18000" marR="18000"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200" dirty="0"/>
                        <a:t>Filter time of position </a:t>
                      </a:r>
                      <a:r>
                        <a:rPr lang="en-US" altLang="zh-CN" sz="1200" dirty="0" err="1"/>
                        <a:t>cmd</a:t>
                      </a:r>
                      <a:r>
                        <a:rPr lang="en-US" altLang="zh-CN" sz="1200" dirty="0"/>
                        <a:t> [ms]</a:t>
                      </a:r>
                      <a:endParaRPr lang="zh-CN" altLang="en-US" sz="1200" dirty="0"/>
                    </a:p>
                  </a:txBody>
                  <a:tcPr marL="18000" marR="18000" marT="0" marB="0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/>
                    </a:p>
                  </a:txBody>
                  <a:tcPr marL="18000" marR="1800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marL="18000" marR="1800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96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6</a:t>
                      </a:r>
                      <a:endParaRPr lang="zh-CN" altLang="en-US" sz="1200" dirty="0"/>
                    </a:p>
                  </a:txBody>
                  <a:tcPr marL="18000" marR="18000"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200" dirty="0"/>
                        <a:t>Dead time of position </a:t>
                      </a:r>
                      <a:r>
                        <a:rPr lang="en-US" altLang="zh-CN" sz="1200" dirty="0" err="1"/>
                        <a:t>cmd</a:t>
                      </a:r>
                      <a:r>
                        <a:rPr lang="en-US" altLang="zh-CN" sz="1200" dirty="0"/>
                        <a:t> [ms]</a:t>
                      </a:r>
                      <a:endParaRPr lang="zh-CN" altLang="en-US" sz="1200" dirty="0"/>
                    </a:p>
                  </a:txBody>
                  <a:tcPr marL="18000" marR="18000" marT="0" marB="0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/>
                    </a:p>
                  </a:txBody>
                  <a:tcPr marL="18000" marR="1800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marL="18000" marR="1800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96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7</a:t>
                      </a:r>
                      <a:endParaRPr lang="zh-CN" altLang="en-US" sz="1200" dirty="0"/>
                    </a:p>
                  </a:txBody>
                  <a:tcPr marL="18000" marR="18000"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200" dirty="0"/>
                        <a:t>Filter time of position feedback</a:t>
                      </a:r>
                      <a:r>
                        <a:rPr lang="en-US" altLang="zh-CN" sz="1200" baseline="0" dirty="0"/>
                        <a:t> [ms]</a:t>
                      </a:r>
                      <a:endParaRPr lang="zh-CN" altLang="en-US" sz="1200" dirty="0"/>
                    </a:p>
                  </a:txBody>
                  <a:tcPr marL="18000" marR="18000" marT="0" marB="0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marL="18000" marR="1800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marL="18000" marR="1800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96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8</a:t>
                      </a:r>
                      <a:endParaRPr lang="zh-CN" altLang="en-US" sz="1200" dirty="0"/>
                    </a:p>
                  </a:txBody>
                  <a:tcPr marL="18000" marR="18000"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200" dirty="0"/>
                        <a:t>Integration time constant [ms]</a:t>
                      </a:r>
                      <a:endParaRPr lang="zh-CN" altLang="en-US" sz="1200" dirty="0"/>
                    </a:p>
                  </a:txBody>
                  <a:tcPr marL="18000" marR="1800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/>
                        <a:t>积分</a:t>
                      </a:r>
                    </a:p>
                  </a:txBody>
                  <a:tcPr marL="18000" marR="1800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marL="18000" marR="1800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96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9</a:t>
                      </a:r>
                      <a:endParaRPr lang="zh-CN" altLang="en-US" sz="1200" dirty="0"/>
                    </a:p>
                  </a:txBody>
                  <a:tcPr marL="18000" marR="18000"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200" dirty="0"/>
                        <a:t>Integrator</a:t>
                      </a:r>
                      <a:r>
                        <a:rPr lang="en-US" altLang="zh-CN" sz="1200" baseline="0" dirty="0"/>
                        <a:t> velocity threshold [mm/s]</a:t>
                      </a:r>
                      <a:endParaRPr lang="zh-CN" altLang="en-US" sz="1200" dirty="0"/>
                    </a:p>
                  </a:txBody>
                  <a:tcPr marL="18000" marR="18000" marT="0" marB="0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marL="18000" marR="1800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6</a:t>
                      </a:r>
                      <a:endParaRPr lang="zh-CN" altLang="en-US" sz="1200" dirty="0"/>
                    </a:p>
                  </a:txBody>
                  <a:tcPr marL="18000" marR="1800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96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10</a:t>
                      </a:r>
                      <a:endParaRPr lang="zh-CN" altLang="en-US" sz="1200" dirty="0"/>
                    </a:p>
                  </a:txBody>
                  <a:tcPr marL="18000" marR="18000"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200" dirty="0"/>
                        <a:t>Accuracy window [mm]</a:t>
                      </a:r>
                      <a:endParaRPr lang="zh-CN" altLang="en-US" sz="1200" dirty="0"/>
                    </a:p>
                  </a:txBody>
                  <a:tcPr marL="18000" marR="18000" marT="0" marB="0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marL="18000" marR="1800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0.005</a:t>
                      </a:r>
                      <a:endParaRPr lang="zh-CN" altLang="en-US" sz="1200" dirty="0"/>
                    </a:p>
                  </a:txBody>
                  <a:tcPr marL="18000" marR="1800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96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11</a:t>
                      </a:r>
                      <a:endParaRPr lang="zh-CN" altLang="en-US" sz="1200" dirty="0"/>
                    </a:p>
                  </a:txBody>
                  <a:tcPr marL="18000" marR="18000"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200" dirty="0"/>
                        <a:t>Integrator</a:t>
                      </a:r>
                      <a:r>
                        <a:rPr lang="en-US" altLang="zh-CN" sz="1200" baseline="0" dirty="0"/>
                        <a:t> limitation [mm/s]</a:t>
                      </a:r>
                      <a:endParaRPr lang="zh-CN" altLang="en-US" sz="1200" dirty="0"/>
                    </a:p>
                  </a:txBody>
                  <a:tcPr marL="18000" marR="18000" marT="0" marB="0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marL="18000" marR="1800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20</a:t>
                      </a:r>
                      <a:endParaRPr lang="zh-CN" altLang="en-US" sz="1200" dirty="0"/>
                    </a:p>
                  </a:txBody>
                  <a:tcPr marL="18000" marR="1800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96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12</a:t>
                      </a:r>
                      <a:endParaRPr lang="zh-CN" altLang="en-US" sz="1200" dirty="0"/>
                    </a:p>
                  </a:txBody>
                  <a:tcPr marL="18000" marR="18000"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200" dirty="0"/>
                        <a:t>Velocity</a:t>
                      </a:r>
                      <a:r>
                        <a:rPr lang="en-US" altLang="zh-CN" sz="1200" baseline="0" dirty="0"/>
                        <a:t> </a:t>
                      </a:r>
                      <a:r>
                        <a:rPr lang="en-US" altLang="zh-CN" sz="1200" baseline="0" dirty="0" err="1"/>
                        <a:t>feedforward</a:t>
                      </a:r>
                      <a:r>
                        <a:rPr lang="en-US" altLang="zh-CN" sz="1200" baseline="0" dirty="0"/>
                        <a:t> [%]</a:t>
                      </a:r>
                      <a:endParaRPr lang="zh-CN" altLang="en-US" sz="1200" dirty="0"/>
                    </a:p>
                  </a:txBody>
                  <a:tcPr marL="18000" marR="18000" marT="0" marB="0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marL="18000" marR="1800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100</a:t>
                      </a:r>
                      <a:endParaRPr lang="zh-CN" altLang="en-US" sz="1200" dirty="0"/>
                    </a:p>
                  </a:txBody>
                  <a:tcPr marL="18000" marR="1800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896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13</a:t>
                      </a:r>
                      <a:endParaRPr lang="zh-CN" altLang="en-US" sz="1200" dirty="0"/>
                    </a:p>
                  </a:txBody>
                  <a:tcPr marL="18000" marR="18000"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200" dirty="0"/>
                        <a:t>Damping force/time constant [ms]</a:t>
                      </a:r>
                      <a:endParaRPr lang="zh-CN" altLang="en-US" sz="1200" dirty="0"/>
                    </a:p>
                  </a:txBody>
                  <a:tcPr marL="18000" marR="1800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/>
                        <a:t>微分</a:t>
                      </a:r>
                    </a:p>
                  </a:txBody>
                  <a:tcPr marL="18000" marR="1800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marL="18000" marR="18000" marT="0" marB="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896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14</a:t>
                      </a:r>
                      <a:endParaRPr lang="zh-CN" altLang="en-US" sz="1200" dirty="0"/>
                    </a:p>
                  </a:txBody>
                  <a:tcPr marL="18000" marR="18000"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200" dirty="0"/>
                        <a:t>Damping velocity gain</a:t>
                      </a:r>
                      <a:endParaRPr lang="zh-CN" altLang="en-US" sz="1200" dirty="0"/>
                    </a:p>
                  </a:txBody>
                  <a:tcPr marL="18000" marR="18000" marT="0" marB="0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marL="18000" marR="1800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/>
                        <a:t>0</a:t>
                      </a:r>
                      <a:endParaRPr lang="zh-CN" altLang="en-US" sz="1200" dirty="0"/>
                    </a:p>
                  </a:txBody>
                  <a:tcPr marL="18000" marR="18000" marT="0" marB="0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2"/>
          <p:cNvPicPr>
            <a:picLocks noChangeAspect="1"/>
          </p:cNvPicPr>
          <p:nvPr/>
        </p:nvPicPr>
        <p:blipFill>
          <a:blip r:embed="rId2"/>
          <a:srcRect l="3225" t="14910" r="4839" b="1362"/>
          <a:stretch>
            <a:fillRect/>
          </a:stretch>
        </p:blipFill>
        <p:spPr>
          <a:xfrm>
            <a:off x="-3979" y="1000108"/>
            <a:ext cx="9147979" cy="585791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71604" y="2143117"/>
            <a:ext cx="720000" cy="169277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 anchorCtr="1">
            <a:spAutoFit/>
          </a:bodyPr>
          <a:lstStyle/>
          <a:p>
            <a:pPr algn="ctr"/>
            <a:r>
              <a:rPr lang="zh-CN" altLang="en-US" sz="1100" b="1" dirty="0"/>
              <a:t>位置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71604" y="2405056"/>
            <a:ext cx="720000" cy="169277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 anchorCtr="1">
            <a:spAutoFit/>
          </a:bodyPr>
          <a:lstStyle/>
          <a:p>
            <a:pPr algn="ctr"/>
            <a:r>
              <a:rPr lang="zh-CN" altLang="en-US" sz="1100" b="1" dirty="0"/>
              <a:t>速度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71604" y="2666995"/>
            <a:ext cx="720000" cy="169277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 anchorCtr="1">
            <a:spAutoFit/>
          </a:bodyPr>
          <a:lstStyle/>
          <a:p>
            <a:pPr algn="ctr"/>
            <a:r>
              <a:rPr lang="zh-CN" altLang="en-US" sz="1100" b="1"/>
              <a:t>加速度</a:t>
            </a:r>
            <a:endParaRPr lang="zh-CN" altLang="en-US" sz="11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1571604" y="2928934"/>
            <a:ext cx="720000" cy="169277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 anchorCtr="1">
            <a:spAutoFit/>
          </a:bodyPr>
          <a:lstStyle/>
          <a:p>
            <a:pPr algn="ctr"/>
            <a:r>
              <a:rPr lang="zh-CN" altLang="en-US" sz="1100" b="1" dirty="0"/>
              <a:t>减速度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71604" y="3357562"/>
            <a:ext cx="720000" cy="169277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 anchorCtr="1">
            <a:spAutoFit/>
          </a:bodyPr>
          <a:lstStyle/>
          <a:p>
            <a:pPr algn="ctr"/>
            <a:r>
              <a:rPr lang="zh-CN" altLang="en-US" sz="1100" b="1" dirty="0"/>
              <a:t>阶跃幅值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4562" y="2143116"/>
            <a:ext cx="756000" cy="169277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 anchorCtr="1">
            <a:spAutoFit/>
          </a:bodyPr>
          <a:lstStyle/>
          <a:p>
            <a:pPr algn="ctr"/>
            <a:r>
              <a:rPr lang="zh-CN" altLang="en-US" sz="1100" b="1" dirty="0"/>
              <a:t>位置</a:t>
            </a:r>
            <a:r>
              <a:rPr lang="en-US" altLang="zh-CN" sz="1100" b="1" dirty="0"/>
              <a:t>1</a:t>
            </a:r>
            <a:endParaRPr lang="zh-CN" altLang="en-US" sz="11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3744562" y="2386005"/>
            <a:ext cx="756000" cy="169277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 anchorCtr="1">
            <a:spAutoFit/>
          </a:bodyPr>
          <a:lstStyle/>
          <a:p>
            <a:pPr algn="ctr"/>
            <a:r>
              <a:rPr lang="zh-CN" altLang="en-US" sz="1100" b="1" dirty="0"/>
              <a:t>速度</a:t>
            </a:r>
            <a:r>
              <a:rPr lang="en-US" altLang="zh-CN" sz="1100" b="1" dirty="0"/>
              <a:t>1</a:t>
            </a:r>
            <a:endParaRPr lang="zh-CN" altLang="en-US" sz="11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3744562" y="2628894"/>
            <a:ext cx="756000" cy="169277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 anchorCtr="1">
            <a:spAutoFit/>
          </a:bodyPr>
          <a:lstStyle/>
          <a:p>
            <a:pPr algn="ctr"/>
            <a:r>
              <a:rPr lang="zh-CN" altLang="en-US" sz="1100" b="1" dirty="0"/>
              <a:t>位置</a:t>
            </a:r>
            <a:r>
              <a:rPr lang="en-US" altLang="zh-CN" sz="1100" b="1" dirty="0"/>
              <a:t>2</a:t>
            </a:r>
            <a:endParaRPr lang="zh-CN" altLang="en-US" sz="1100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3744562" y="2902533"/>
            <a:ext cx="756000" cy="169277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 anchorCtr="1">
            <a:spAutoFit/>
          </a:bodyPr>
          <a:lstStyle/>
          <a:p>
            <a:pPr algn="ctr"/>
            <a:r>
              <a:rPr lang="zh-CN" altLang="en-US" sz="1100" b="1" dirty="0"/>
              <a:t>速度</a:t>
            </a:r>
            <a:r>
              <a:rPr lang="en-US" altLang="zh-CN" sz="1100" b="1" dirty="0"/>
              <a:t>2</a:t>
            </a:r>
            <a:endParaRPr lang="zh-CN" altLang="en-US" sz="1100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3744562" y="3114672"/>
            <a:ext cx="756000" cy="169277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 anchorCtr="1">
            <a:spAutoFit/>
          </a:bodyPr>
          <a:lstStyle/>
          <a:p>
            <a:pPr algn="ctr"/>
            <a:r>
              <a:rPr lang="zh-CN" altLang="en-US" sz="1100" b="1" dirty="0"/>
              <a:t>加速度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4562" y="3357562"/>
            <a:ext cx="756000" cy="169277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 anchorCtr="1">
            <a:spAutoFit/>
          </a:bodyPr>
          <a:lstStyle/>
          <a:p>
            <a:pPr algn="ctr"/>
            <a:r>
              <a:rPr lang="zh-CN" altLang="en-US" sz="1100" b="1" dirty="0"/>
              <a:t>减速度</a:t>
            </a:r>
          </a:p>
        </p:txBody>
      </p:sp>
      <p:sp>
        <p:nvSpPr>
          <p:cNvPr id="14" name="矩形 13"/>
          <p:cNvSpPr/>
          <p:nvPr/>
        </p:nvSpPr>
        <p:spPr>
          <a:xfrm>
            <a:off x="252000" y="4214818"/>
            <a:ext cx="857256" cy="428628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1188000" y="4214818"/>
            <a:ext cx="857256" cy="428628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252000" y="4714884"/>
            <a:ext cx="1800000" cy="428628"/>
          </a:xfrm>
          <a:prstGeom prst="rect">
            <a:avLst/>
          </a:prstGeom>
          <a:noFill/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252000" y="5220000"/>
            <a:ext cx="1800000" cy="428628"/>
          </a:xfrm>
          <a:prstGeom prst="rect">
            <a:avLst/>
          </a:prstGeom>
          <a:noFill/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214282" y="5742000"/>
            <a:ext cx="2786082" cy="428628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2124000" y="4214818"/>
            <a:ext cx="857256" cy="428628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2124000" y="4714884"/>
            <a:ext cx="857256" cy="428628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2124000" y="5214950"/>
            <a:ext cx="857256" cy="428628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0" y="0"/>
            <a:ext cx="5429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Position Control Mode-</a:t>
            </a:r>
            <a:r>
              <a:rPr lang="zh-CN" altLang="en-US" dirty="0"/>
              <a:t>位置控制实验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43240" y="5572140"/>
            <a:ext cx="4286280" cy="73866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Step mode</a:t>
            </a:r>
            <a:r>
              <a:rPr lang="zh-CN" altLang="en-US" sz="1400" dirty="0"/>
              <a:t>或者</a:t>
            </a:r>
            <a:r>
              <a:rPr lang="en-US" altLang="zh-CN" sz="1400" dirty="0"/>
              <a:t>Sinus mode</a:t>
            </a:r>
            <a:r>
              <a:rPr lang="zh-CN" altLang="en-US" sz="1400" dirty="0"/>
              <a:t>必须和</a:t>
            </a:r>
            <a:r>
              <a:rPr lang="en-US" altLang="zh-CN" sz="1400" dirty="0" err="1"/>
              <a:t>MoveABS</a:t>
            </a:r>
            <a:r>
              <a:rPr lang="zh-CN" altLang="en-US" sz="1400" dirty="0"/>
              <a:t>一起用</a:t>
            </a:r>
            <a:endParaRPr lang="en-US" altLang="zh-CN" sz="1400" dirty="0"/>
          </a:p>
          <a:p>
            <a:r>
              <a:rPr lang="en-US" altLang="zh-CN" sz="1400" dirty="0"/>
              <a:t>Mode AH</a:t>
            </a:r>
            <a:r>
              <a:rPr lang="zh-CN" altLang="en-US" sz="1400" dirty="0"/>
              <a:t>：保持当前位置，油缸处于闭环控制的状态</a:t>
            </a:r>
            <a:endParaRPr lang="en-US" altLang="zh-CN" sz="1400" dirty="0"/>
          </a:p>
          <a:p>
            <a:r>
              <a:rPr lang="en-US" altLang="zh-CN" sz="1400" dirty="0"/>
              <a:t>Mode AB</a:t>
            </a:r>
            <a:r>
              <a:rPr lang="zh-CN" altLang="en-US" sz="1400" dirty="0"/>
              <a:t>：给比例阀在输入指令为</a:t>
            </a:r>
            <a:r>
              <a:rPr lang="en-US" altLang="zh-CN" sz="1400" dirty="0"/>
              <a:t>0</a:t>
            </a:r>
            <a:r>
              <a:rPr lang="zh-CN" altLang="en-US" sz="1400" dirty="0"/>
              <a:t>，解除闭环控制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43900" y="2143116"/>
            <a:ext cx="720000" cy="169277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 anchorCtr="1">
            <a:spAutoFit/>
          </a:bodyPr>
          <a:lstStyle/>
          <a:p>
            <a:pPr algn="ctr"/>
            <a:r>
              <a:rPr lang="zh-CN" altLang="en-US" sz="1100" b="1" dirty="0"/>
              <a:t>正弦幅值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43900" y="2402467"/>
            <a:ext cx="720000" cy="169277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 anchorCtr="1">
            <a:spAutoFit/>
          </a:bodyPr>
          <a:lstStyle/>
          <a:p>
            <a:pPr algn="ctr"/>
            <a:r>
              <a:rPr lang="zh-CN" altLang="en-US" sz="1100" b="1" dirty="0"/>
              <a:t>正弦频率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43900" y="2643182"/>
            <a:ext cx="720000" cy="169277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 anchorCtr="1">
            <a:spAutoFit/>
          </a:bodyPr>
          <a:lstStyle/>
          <a:p>
            <a:pPr algn="ctr"/>
            <a:r>
              <a:rPr lang="zh-CN" altLang="en-US" sz="1100" b="1" dirty="0"/>
              <a:t>正弦偏置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29322" y="3143248"/>
            <a:ext cx="720000" cy="169277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 anchorCtr="1">
            <a:spAutoFit/>
          </a:bodyPr>
          <a:lstStyle/>
          <a:p>
            <a:pPr algn="ctr"/>
            <a:r>
              <a:rPr lang="zh-CN" altLang="en-US" sz="1100" b="1" dirty="0"/>
              <a:t>阀口开度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29322" y="3357562"/>
            <a:ext cx="720000" cy="169277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 anchorCtr="1">
            <a:spAutoFit/>
          </a:bodyPr>
          <a:lstStyle/>
          <a:p>
            <a:pPr algn="ctr"/>
            <a:r>
              <a:rPr lang="zh-CN" altLang="en-US" sz="1100" b="1" dirty="0"/>
              <a:t>阀口开度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29322" y="3571876"/>
            <a:ext cx="720000" cy="169277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 anchorCtr="1">
            <a:spAutoFit/>
          </a:bodyPr>
          <a:lstStyle/>
          <a:p>
            <a:pPr algn="ctr"/>
            <a:r>
              <a:rPr lang="zh-CN" altLang="en-US" sz="1100" b="1" dirty="0"/>
              <a:t>斜坡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14348" y="857232"/>
            <a:ext cx="750099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 err="1"/>
              <a:t>Moveabs</a:t>
            </a:r>
            <a:r>
              <a:rPr lang="en-US" altLang="zh-CN" sz="2400" dirty="0"/>
              <a:t>: </a:t>
            </a:r>
            <a:r>
              <a:rPr lang="zh-CN" altLang="en-US" sz="2400" dirty="0"/>
              <a:t>点到点的闭环位置控制，目标位置，速度，加减速度可设定 </a:t>
            </a:r>
            <a:endParaRPr lang="en-US" altLang="zh-CN" sz="2400" dirty="0"/>
          </a:p>
          <a:p>
            <a:endParaRPr lang="zh-CN" altLang="en-US" sz="2400" dirty="0"/>
          </a:p>
          <a:p>
            <a:r>
              <a:rPr lang="en-US" altLang="zh-CN" sz="2400" dirty="0"/>
              <a:t>Moveabs2: </a:t>
            </a:r>
            <a:r>
              <a:rPr lang="zh-CN" altLang="en-US" sz="2400" dirty="0"/>
              <a:t>点到点的位置控制，包含了两套目标位置和速度的设定 </a:t>
            </a:r>
            <a:endParaRPr lang="en-US" altLang="zh-CN" sz="2400" dirty="0"/>
          </a:p>
          <a:p>
            <a:endParaRPr lang="zh-CN" altLang="en-US" sz="2400" dirty="0"/>
          </a:p>
          <a:p>
            <a:r>
              <a:rPr lang="en-US" altLang="zh-CN" sz="2400" dirty="0"/>
              <a:t>PDB control: </a:t>
            </a:r>
            <a:r>
              <a:rPr lang="zh-CN" altLang="en-US" sz="2400" dirty="0"/>
              <a:t>路径相关的制动控制，开环转闭环控制，闭环窗口，残余速度，减速特性可设定 </a:t>
            </a:r>
            <a:endParaRPr lang="en-US" altLang="zh-CN" sz="2400" dirty="0"/>
          </a:p>
          <a:p>
            <a:endParaRPr lang="zh-CN" altLang="en-US" sz="2400" dirty="0"/>
          </a:p>
          <a:p>
            <a:r>
              <a:rPr lang="en-US" altLang="zh-CN" sz="2400" dirty="0" err="1"/>
              <a:t>ModeAH</a:t>
            </a:r>
            <a:r>
              <a:rPr lang="en-US" altLang="zh-CN" sz="2400" dirty="0"/>
              <a:t>: </a:t>
            </a:r>
            <a:r>
              <a:rPr lang="zh-CN" altLang="en-US" sz="2400" dirty="0"/>
              <a:t>进入闭环控制，保持当前位置 </a:t>
            </a:r>
            <a:endParaRPr lang="en-US" altLang="zh-CN" sz="2400" dirty="0"/>
          </a:p>
          <a:p>
            <a:endParaRPr lang="zh-CN" altLang="en-US" sz="2400" dirty="0"/>
          </a:p>
          <a:p>
            <a:r>
              <a:rPr lang="en-US" altLang="zh-CN" sz="2400" dirty="0" err="1"/>
              <a:t>ModeAB</a:t>
            </a:r>
            <a:r>
              <a:rPr lang="en-US" altLang="zh-CN" sz="2400" dirty="0"/>
              <a:t>: </a:t>
            </a:r>
            <a:r>
              <a:rPr lang="zh-CN" altLang="en-US" sz="2400" dirty="0"/>
              <a:t>切出闭环控制 </a:t>
            </a:r>
            <a:endParaRPr lang="en-US" altLang="zh-CN" sz="2400" dirty="0"/>
          </a:p>
          <a:p>
            <a:endParaRPr lang="zh-CN" altLang="en-US" sz="2400" dirty="0"/>
          </a:p>
          <a:p>
            <a:r>
              <a:rPr lang="en-US" altLang="zh-CN" sz="2400" dirty="0"/>
              <a:t>Jog mode: </a:t>
            </a:r>
            <a:r>
              <a:rPr lang="zh-CN" altLang="en-US" sz="2400" dirty="0"/>
              <a:t>手动开环控制模式，可点动伸缩油缸，比例阀开口和斜坡可设定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457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MoveAbsolute</a:t>
            </a:r>
            <a:r>
              <a:rPr lang="zh-CN" altLang="en-US" dirty="0"/>
              <a:t>（</a:t>
            </a:r>
            <a:r>
              <a:rPr lang="en-US" altLang="zh-CN" dirty="0"/>
              <a:t>Move ABS</a:t>
            </a:r>
            <a:r>
              <a:rPr lang="zh-CN" altLang="en-US" dirty="0"/>
              <a:t>）</a:t>
            </a:r>
          </a:p>
        </p:txBody>
      </p:sp>
      <p:graphicFrame>
        <p:nvGraphicFramePr>
          <p:cNvPr id="14" name="表格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8161171"/>
              </p:ext>
            </p:extLst>
          </p:nvPr>
        </p:nvGraphicFramePr>
        <p:xfrm>
          <a:off x="3347864" y="328873"/>
          <a:ext cx="3012268" cy="137160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043354">
                  <a:extLst>
                    <a:ext uri="{9D8B030D-6E8A-4147-A177-3AD203B41FA5}">
                      <a16:colId xmlns:a16="http://schemas.microsoft.com/office/drawing/2014/main" val="1035929369"/>
                    </a:ext>
                  </a:extLst>
                </a:gridCol>
                <a:gridCol w="968914">
                  <a:extLst>
                    <a:ext uri="{9D8B030D-6E8A-4147-A177-3AD203B41FA5}">
                      <a16:colId xmlns:a16="http://schemas.microsoft.com/office/drawing/2014/main" val="2145776040"/>
                    </a:ext>
                  </a:extLst>
                </a:gridCol>
              </a:tblGrid>
              <a:tr h="264000"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err="1"/>
                        <a:t>Moevabs</a:t>
                      </a:r>
                      <a:r>
                        <a:rPr lang="en-US" altLang="zh-CN" dirty="0"/>
                        <a:t> parameter set</a:t>
                      </a:r>
                      <a:endParaRPr lang="zh-CN" altLang="en-US" b="0" i="0" dirty="0"/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lang="zh-CN" altLang="en-US" b="0" i="0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7905395"/>
                  </a:ext>
                </a:extLst>
              </a:tr>
              <a:tr h="264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Position[mm]</a:t>
                      </a:r>
                      <a:endParaRPr lang="zh-CN" altLang="en-US" b="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endParaRPr lang="zh-CN" altLang="en-US" b="0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489562682"/>
                  </a:ext>
                </a:extLst>
              </a:tr>
              <a:tr h="264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0" dirty="0"/>
                        <a:t>Velocity[mm/s]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endParaRPr lang="zh-CN" altLang="en-US" b="0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389465972"/>
                  </a:ext>
                </a:extLst>
              </a:tr>
              <a:tr h="264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acceleration[mm^2/s]</a:t>
                      </a:r>
                      <a:endParaRPr lang="en-US" altLang="zh-CN" b="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endParaRPr lang="zh-CN" altLang="en-US" b="0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2938888"/>
                  </a:ext>
                </a:extLst>
              </a:tr>
              <a:tr h="264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deceleration[mm^2/s]</a:t>
                      </a:r>
                      <a:endParaRPr lang="zh-CN" altLang="en-US" b="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endParaRPr lang="zh-CN" altLang="en-US" b="0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061038212"/>
                  </a:ext>
                </a:extLst>
              </a:tr>
            </a:tbl>
          </a:graphicData>
        </a:graphic>
      </p:graphicFrame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0F7A3CD9-0D4B-46EE-891B-49ADA5D286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6299782"/>
              </p:ext>
            </p:extLst>
          </p:nvPr>
        </p:nvGraphicFramePr>
        <p:xfrm>
          <a:off x="539552" y="2564904"/>
          <a:ext cx="3213562" cy="112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8878">
                  <a:extLst>
                    <a:ext uri="{9D8B030D-6E8A-4147-A177-3AD203B41FA5}">
                      <a16:colId xmlns:a16="http://schemas.microsoft.com/office/drawing/2014/main" val="869902611"/>
                    </a:ext>
                  </a:extLst>
                </a:gridCol>
                <a:gridCol w="1604684">
                  <a:extLst>
                    <a:ext uri="{9D8B030D-6E8A-4147-A177-3AD203B41FA5}">
                      <a16:colId xmlns:a16="http://schemas.microsoft.com/office/drawing/2014/main" val="2086220222"/>
                    </a:ext>
                  </a:extLst>
                </a:gridCol>
              </a:tblGrid>
              <a:tr h="259033">
                <a:tc>
                  <a:txBody>
                    <a:bodyPr/>
                    <a:lstStyle/>
                    <a:p>
                      <a:r>
                        <a:rPr lang="en-US" altLang="zh-CN" sz="1400" dirty="0" err="1"/>
                        <a:t>Kv</a:t>
                      </a:r>
                      <a:endParaRPr lang="zh-CN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0.5</a:t>
                      </a:r>
                      <a:endParaRPr lang="zh-CN" alt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8745708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standard</a:t>
                      </a:r>
                      <a:endParaRPr lang="zh-CN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200</a:t>
                      </a:r>
                      <a:endParaRPr lang="zh-CN" alt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43495972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n-US" altLang="zh-CN" sz="1400" dirty="0" err="1"/>
                        <a:t>dir</a:t>
                      </a:r>
                      <a:endParaRPr lang="zh-CN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1.9</a:t>
                      </a:r>
                      <a:endParaRPr lang="zh-CN" alt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24147225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offset</a:t>
                      </a:r>
                      <a:endParaRPr lang="zh-CN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0.25/0.7/0.9</a:t>
                      </a:r>
                      <a:endParaRPr lang="zh-CN" alt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560146172"/>
                  </a:ext>
                </a:extLst>
              </a:tr>
            </a:tbl>
          </a:graphicData>
        </a:graphic>
      </p:graphicFrame>
      <p:sp>
        <p:nvSpPr>
          <p:cNvPr id="16" name="文本框 15">
            <a:extLst>
              <a:ext uri="{FF2B5EF4-FFF2-40B4-BE49-F238E27FC236}">
                <a16:creationId xmlns:a16="http://schemas.microsoft.com/office/drawing/2014/main" id="{2DFF30FD-2498-48AC-AD80-E16992594619}"/>
              </a:ext>
            </a:extLst>
          </p:cNvPr>
          <p:cNvSpPr txBox="1"/>
          <p:nvPr/>
        </p:nvSpPr>
        <p:spPr>
          <a:xfrm>
            <a:off x="3878616" y="2667119"/>
            <a:ext cx="43299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改变</a:t>
            </a:r>
            <a:r>
              <a:rPr lang="en-US" altLang="zh-CN" dirty="0"/>
              <a:t>offset</a:t>
            </a:r>
            <a:r>
              <a:rPr lang="zh-CN" altLang="en-US" dirty="0"/>
              <a:t>值，看最终定位误差的变化</a:t>
            </a:r>
            <a:endParaRPr lang="en-US" altLang="zh-CN" dirty="0"/>
          </a:p>
          <a:p>
            <a:r>
              <a:rPr lang="zh-CN" altLang="en-US" dirty="0"/>
              <a:t>可以使用</a:t>
            </a:r>
            <a:r>
              <a:rPr lang="en-US" altLang="zh-CN" dirty="0" err="1"/>
              <a:t>moveabs</a:t>
            </a:r>
            <a:r>
              <a:rPr lang="zh-CN" altLang="en-US" dirty="0"/>
              <a:t>指令，让油缸运动到某一指定位置（如</a:t>
            </a:r>
            <a:r>
              <a:rPr lang="en-US" altLang="zh-CN" dirty="0"/>
              <a:t>50mm</a:t>
            </a:r>
            <a:r>
              <a:rPr lang="zh-CN" altLang="en-US" dirty="0"/>
              <a:t>处）</a:t>
            </a:r>
          </a:p>
        </p:txBody>
      </p:sp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C5C068FE-E010-412F-AEA8-23715EB2AD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228197"/>
              </p:ext>
            </p:extLst>
          </p:nvPr>
        </p:nvGraphicFramePr>
        <p:xfrm>
          <a:off x="539551" y="4187515"/>
          <a:ext cx="3213562" cy="18364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6781">
                  <a:extLst>
                    <a:ext uri="{9D8B030D-6E8A-4147-A177-3AD203B41FA5}">
                      <a16:colId xmlns:a16="http://schemas.microsoft.com/office/drawing/2014/main" val="869902611"/>
                    </a:ext>
                  </a:extLst>
                </a:gridCol>
                <a:gridCol w="1606781">
                  <a:extLst>
                    <a:ext uri="{9D8B030D-6E8A-4147-A177-3AD203B41FA5}">
                      <a16:colId xmlns:a16="http://schemas.microsoft.com/office/drawing/2014/main" val="208622022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r>
                        <a:rPr lang="en-US" altLang="zh-CN" sz="1400" dirty="0" err="1"/>
                        <a:t>Kv</a:t>
                      </a:r>
                      <a:endParaRPr lang="zh-CN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0.5</a:t>
                      </a:r>
                      <a:endParaRPr lang="zh-CN" alt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8745708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Integration</a:t>
                      </a:r>
                      <a:r>
                        <a:rPr lang="en-US" altLang="zh-CN" sz="1400" baseline="0" dirty="0"/>
                        <a:t> time constant</a:t>
                      </a:r>
                      <a:endParaRPr lang="zh-CN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0</a:t>
                      </a:r>
                      <a:r>
                        <a:rPr lang="zh-CN" altLang="en-US" sz="1400" dirty="0"/>
                        <a:t>（代表无积分）</a:t>
                      </a:r>
                      <a:endParaRPr lang="en-US" altLang="zh-CN" sz="1400" dirty="0"/>
                    </a:p>
                    <a:p>
                      <a:r>
                        <a:rPr lang="en-US" altLang="zh-CN" sz="1400" dirty="0"/>
                        <a:t>200ms</a:t>
                      </a:r>
                    </a:p>
                    <a:p>
                      <a:r>
                        <a:rPr lang="en-US" altLang="zh-CN" sz="1400" dirty="0"/>
                        <a:t>500ms</a:t>
                      </a:r>
                      <a:endParaRPr lang="zh-CN" alt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57183107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standard</a:t>
                      </a:r>
                      <a:endParaRPr lang="zh-CN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200</a:t>
                      </a:r>
                      <a:endParaRPr lang="zh-CN" alt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43495972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n-US" altLang="zh-CN" sz="1400" dirty="0" err="1"/>
                        <a:t>dir</a:t>
                      </a:r>
                      <a:endParaRPr lang="zh-CN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1.9</a:t>
                      </a:r>
                      <a:endParaRPr lang="zh-CN" alt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24147225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offset</a:t>
                      </a:r>
                      <a:endParaRPr lang="zh-CN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0.25/0.7</a:t>
                      </a:r>
                      <a:endParaRPr lang="zh-CN" alt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560146172"/>
                  </a:ext>
                </a:extLst>
              </a:tr>
            </a:tbl>
          </a:graphicData>
        </a:graphic>
      </p:graphicFrame>
      <p:sp>
        <p:nvSpPr>
          <p:cNvPr id="18" name="文本框 17">
            <a:extLst>
              <a:ext uri="{FF2B5EF4-FFF2-40B4-BE49-F238E27FC236}">
                <a16:creationId xmlns:a16="http://schemas.microsoft.com/office/drawing/2014/main" id="{293C6CDB-BE06-47F7-A6EE-FDFC9B293393}"/>
              </a:ext>
            </a:extLst>
          </p:cNvPr>
          <p:cNvSpPr txBox="1"/>
          <p:nvPr/>
        </p:nvSpPr>
        <p:spPr>
          <a:xfrm>
            <a:off x="3878616" y="4334554"/>
            <a:ext cx="45899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选定某一</a:t>
            </a:r>
            <a:r>
              <a:rPr lang="en-US" altLang="zh-CN" dirty="0"/>
              <a:t>offset</a:t>
            </a:r>
            <a:r>
              <a:rPr lang="zh-CN" altLang="en-US" dirty="0"/>
              <a:t>值，改变积分常数，看最终定位误差的变化</a:t>
            </a:r>
            <a:endParaRPr lang="en-US" altLang="zh-CN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D20BC906-1319-4926-8C2F-6DB78C124A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60" y="360113"/>
            <a:ext cx="8061188" cy="5704126"/>
          </a:xfrm>
          <a:prstGeom prst="rect">
            <a:avLst/>
          </a:prstGeom>
        </p:spPr>
      </p:pic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332C3432-5C76-42D2-8B94-00A638EEEA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3681619"/>
              </p:ext>
            </p:extLst>
          </p:nvPr>
        </p:nvGraphicFramePr>
        <p:xfrm>
          <a:off x="6486253" y="1022920"/>
          <a:ext cx="1867930" cy="112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3965">
                  <a:extLst>
                    <a:ext uri="{9D8B030D-6E8A-4147-A177-3AD203B41FA5}">
                      <a16:colId xmlns:a16="http://schemas.microsoft.com/office/drawing/2014/main" val="869902611"/>
                    </a:ext>
                  </a:extLst>
                </a:gridCol>
                <a:gridCol w="933965">
                  <a:extLst>
                    <a:ext uri="{9D8B030D-6E8A-4147-A177-3AD203B41FA5}">
                      <a16:colId xmlns:a16="http://schemas.microsoft.com/office/drawing/2014/main" val="208622022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r>
                        <a:rPr lang="en-US" altLang="zh-CN" sz="1400" dirty="0" err="1"/>
                        <a:t>Kv</a:t>
                      </a:r>
                      <a:endParaRPr lang="zh-CN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0.5</a:t>
                      </a:r>
                      <a:endParaRPr lang="zh-CN" alt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8745708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standard</a:t>
                      </a:r>
                      <a:endParaRPr lang="zh-CN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200</a:t>
                      </a:r>
                      <a:endParaRPr lang="zh-CN" alt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43495972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n-US" altLang="zh-CN" sz="1400" dirty="0" err="1"/>
                        <a:t>dir</a:t>
                      </a:r>
                      <a:endParaRPr lang="zh-CN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1.9</a:t>
                      </a:r>
                      <a:endParaRPr lang="zh-CN" alt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24147225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offset</a:t>
                      </a:r>
                      <a:endParaRPr lang="zh-CN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0.7</a:t>
                      </a:r>
                      <a:endParaRPr lang="zh-CN" alt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560146172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7BCCF4E-8DDC-42DB-A373-BC0711D3EF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4329864"/>
              </p:ext>
            </p:extLst>
          </p:nvPr>
        </p:nvGraphicFramePr>
        <p:xfrm>
          <a:off x="992661" y="5280145"/>
          <a:ext cx="1395283" cy="685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4555">
                  <a:extLst>
                    <a:ext uri="{9D8B030D-6E8A-4147-A177-3AD203B41FA5}">
                      <a16:colId xmlns:a16="http://schemas.microsoft.com/office/drawing/2014/main" val="2211521152"/>
                    </a:ext>
                  </a:extLst>
                </a:gridCol>
                <a:gridCol w="930728">
                  <a:extLst>
                    <a:ext uri="{9D8B030D-6E8A-4147-A177-3AD203B41FA5}">
                      <a16:colId xmlns:a16="http://schemas.microsoft.com/office/drawing/2014/main" val="3385987392"/>
                    </a:ext>
                  </a:extLst>
                </a:gridCol>
              </a:tblGrid>
              <a:tr h="210992"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</a:pPr>
                      <a:r>
                        <a:rPr lang="zh-CN" altLang="en-US" sz="1400" dirty="0"/>
                        <a:t>位置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00"/>
                        </a:lnSpc>
                      </a:pPr>
                      <a:r>
                        <a:rPr lang="en-US" altLang="zh-CN" sz="1400" dirty="0"/>
                        <a:t>50-250-50</a:t>
                      </a:r>
                      <a:endParaRPr lang="zh-CN" altLang="en-US" sz="1400" dirty="0"/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2170214"/>
                  </a:ext>
                </a:extLst>
              </a:tr>
              <a:tr h="210992"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</a:pPr>
                      <a:r>
                        <a:rPr lang="en-US" altLang="zh-CN" sz="1400" dirty="0"/>
                        <a:t>v</a:t>
                      </a:r>
                      <a:endParaRPr lang="zh-CN" altLang="en-US" sz="14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00"/>
                        </a:lnSpc>
                      </a:pPr>
                      <a:r>
                        <a:rPr lang="en-US" altLang="zh-CN" sz="1400" dirty="0"/>
                        <a:t>50</a:t>
                      </a:r>
                      <a:endParaRPr lang="zh-CN" altLang="en-US" sz="1400" dirty="0"/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7050913"/>
                  </a:ext>
                </a:extLst>
              </a:tr>
              <a:tr h="210992"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</a:pPr>
                      <a:r>
                        <a:rPr lang="en-US" altLang="zh-CN" sz="1400" dirty="0"/>
                        <a:t>A</a:t>
                      </a:r>
                      <a:endParaRPr lang="zh-CN" altLang="en-US" sz="14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00"/>
                        </a:lnSpc>
                      </a:pPr>
                      <a:r>
                        <a:rPr lang="en-US" altLang="zh-CN" sz="1400" dirty="0"/>
                        <a:t>100</a:t>
                      </a:r>
                      <a:endParaRPr lang="zh-CN" altLang="en-US" sz="1400" dirty="0"/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463180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AA87C45A-46CC-44B9-A06D-E671D58EC0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0742438"/>
              </p:ext>
            </p:extLst>
          </p:nvPr>
        </p:nvGraphicFramePr>
        <p:xfrm>
          <a:off x="3700208" y="5326874"/>
          <a:ext cx="1395283" cy="685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4555">
                  <a:extLst>
                    <a:ext uri="{9D8B030D-6E8A-4147-A177-3AD203B41FA5}">
                      <a16:colId xmlns:a16="http://schemas.microsoft.com/office/drawing/2014/main" val="2211521152"/>
                    </a:ext>
                  </a:extLst>
                </a:gridCol>
                <a:gridCol w="930728">
                  <a:extLst>
                    <a:ext uri="{9D8B030D-6E8A-4147-A177-3AD203B41FA5}">
                      <a16:colId xmlns:a16="http://schemas.microsoft.com/office/drawing/2014/main" val="3385987392"/>
                    </a:ext>
                  </a:extLst>
                </a:gridCol>
              </a:tblGrid>
              <a:tr h="210992"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</a:pPr>
                      <a:r>
                        <a:rPr lang="zh-CN" altLang="en-US" sz="1400" dirty="0"/>
                        <a:t>位置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00"/>
                        </a:lnSpc>
                      </a:pPr>
                      <a:r>
                        <a:rPr lang="en-US" altLang="zh-CN" sz="1400" dirty="0"/>
                        <a:t>50-250-50</a:t>
                      </a:r>
                      <a:endParaRPr lang="zh-CN" altLang="en-US" sz="1400" dirty="0"/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2170214"/>
                  </a:ext>
                </a:extLst>
              </a:tr>
              <a:tr h="210992"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</a:pPr>
                      <a:r>
                        <a:rPr lang="en-US" altLang="zh-CN" sz="1400" dirty="0"/>
                        <a:t>v</a:t>
                      </a:r>
                      <a:endParaRPr lang="zh-CN" altLang="en-US" sz="14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00"/>
                        </a:lnSpc>
                      </a:pPr>
                      <a:r>
                        <a:rPr lang="en-US" altLang="zh-CN" sz="1400" dirty="0"/>
                        <a:t>100</a:t>
                      </a:r>
                      <a:endParaRPr lang="zh-CN" altLang="en-US" sz="1400" dirty="0"/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7050913"/>
                  </a:ext>
                </a:extLst>
              </a:tr>
              <a:tr h="210992"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</a:pPr>
                      <a:r>
                        <a:rPr lang="en-US" altLang="zh-CN" sz="1400" dirty="0"/>
                        <a:t>A</a:t>
                      </a:r>
                      <a:endParaRPr lang="zh-CN" altLang="en-US" sz="14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00"/>
                        </a:lnSpc>
                      </a:pPr>
                      <a:r>
                        <a:rPr lang="en-US" altLang="zh-CN" sz="1400" dirty="0"/>
                        <a:t>100</a:t>
                      </a:r>
                      <a:endParaRPr lang="zh-CN" altLang="en-US" sz="1400" dirty="0"/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463180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ABF7384A-A25A-427E-90EB-E4F90EC39D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8113086"/>
              </p:ext>
            </p:extLst>
          </p:nvPr>
        </p:nvGraphicFramePr>
        <p:xfrm>
          <a:off x="5251533" y="5326874"/>
          <a:ext cx="1395283" cy="685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4555">
                  <a:extLst>
                    <a:ext uri="{9D8B030D-6E8A-4147-A177-3AD203B41FA5}">
                      <a16:colId xmlns:a16="http://schemas.microsoft.com/office/drawing/2014/main" val="2211521152"/>
                    </a:ext>
                  </a:extLst>
                </a:gridCol>
                <a:gridCol w="930728">
                  <a:extLst>
                    <a:ext uri="{9D8B030D-6E8A-4147-A177-3AD203B41FA5}">
                      <a16:colId xmlns:a16="http://schemas.microsoft.com/office/drawing/2014/main" val="3385987392"/>
                    </a:ext>
                  </a:extLst>
                </a:gridCol>
              </a:tblGrid>
              <a:tr h="210992"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</a:pPr>
                      <a:r>
                        <a:rPr lang="zh-CN" altLang="en-US" sz="1400" dirty="0"/>
                        <a:t>位置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00"/>
                        </a:lnSpc>
                      </a:pPr>
                      <a:r>
                        <a:rPr lang="en-US" altLang="zh-CN" sz="1400" dirty="0"/>
                        <a:t>50-250-50</a:t>
                      </a:r>
                      <a:endParaRPr lang="zh-CN" altLang="en-US" sz="1400" dirty="0"/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2170214"/>
                  </a:ext>
                </a:extLst>
              </a:tr>
              <a:tr h="210992"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</a:pPr>
                      <a:r>
                        <a:rPr lang="en-US" altLang="zh-CN" sz="1400" dirty="0"/>
                        <a:t>v</a:t>
                      </a:r>
                      <a:endParaRPr lang="zh-CN" altLang="en-US" sz="14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00"/>
                        </a:lnSpc>
                      </a:pPr>
                      <a:r>
                        <a:rPr lang="en-US" altLang="zh-CN" sz="1400" dirty="0"/>
                        <a:t>200</a:t>
                      </a:r>
                      <a:endParaRPr lang="zh-CN" altLang="en-US" sz="1400" dirty="0"/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7050913"/>
                  </a:ext>
                </a:extLst>
              </a:tr>
              <a:tr h="210992"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</a:pPr>
                      <a:r>
                        <a:rPr lang="en-US" altLang="zh-CN" sz="1400" dirty="0"/>
                        <a:t>A</a:t>
                      </a:r>
                      <a:endParaRPr lang="zh-CN" altLang="en-US" sz="14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00"/>
                        </a:lnSpc>
                      </a:pPr>
                      <a:r>
                        <a:rPr lang="en-US" altLang="zh-CN" sz="1400" dirty="0"/>
                        <a:t>100</a:t>
                      </a:r>
                      <a:endParaRPr lang="zh-CN" altLang="en-US" sz="1400" dirty="0"/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463180"/>
                  </a:ext>
                </a:extLst>
              </a:tr>
            </a:tbl>
          </a:graphicData>
        </a:graphic>
      </p:graphicFrame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4FB68BB7-6BC4-49BA-AEB7-B9C5A2E03E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8190367"/>
              </p:ext>
            </p:extLst>
          </p:nvPr>
        </p:nvGraphicFramePr>
        <p:xfrm>
          <a:off x="6958900" y="5326874"/>
          <a:ext cx="1395283" cy="685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4555">
                  <a:extLst>
                    <a:ext uri="{9D8B030D-6E8A-4147-A177-3AD203B41FA5}">
                      <a16:colId xmlns:a16="http://schemas.microsoft.com/office/drawing/2014/main" val="2211521152"/>
                    </a:ext>
                  </a:extLst>
                </a:gridCol>
                <a:gridCol w="930728">
                  <a:extLst>
                    <a:ext uri="{9D8B030D-6E8A-4147-A177-3AD203B41FA5}">
                      <a16:colId xmlns:a16="http://schemas.microsoft.com/office/drawing/2014/main" val="3385987392"/>
                    </a:ext>
                  </a:extLst>
                </a:gridCol>
              </a:tblGrid>
              <a:tr h="210992"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</a:pPr>
                      <a:r>
                        <a:rPr lang="zh-CN" altLang="en-US" sz="1400" dirty="0"/>
                        <a:t>位置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00"/>
                        </a:lnSpc>
                      </a:pPr>
                      <a:r>
                        <a:rPr lang="en-US" altLang="zh-CN" sz="1400" dirty="0"/>
                        <a:t>50-250-50</a:t>
                      </a:r>
                      <a:endParaRPr lang="zh-CN" altLang="en-US" sz="1400" dirty="0"/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2170214"/>
                  </a:ext>
                </a:extLst>
              </a:tr>
              <a:tr h="210992"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</a:pPr>
                      <a:r>
                        <a:rPr lang="en-US" altLang="zh-CN" sz="1400" dirty="0"/>
                        <a:t>v</a:t>
                      </a:r>
                      <a:endParaRPr lang="zh-CN" altLang="en-US" sz="14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00"/>
                        </a:lnSpc>
                      </a:pPr>
                      <a:r>
                        <a:rPr lang="en-US" altLang="zh-CN" sz="1400" dirty="0"/>
                        <a:t>250</a:t>
                      </a:r>
                      <a:endParaRPr lang="zh-CN" altLang="en-US" sz="1400" dirty="0"/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7050913"/>
                  </a:ext>
                </a:extLst>
              </a:tr>
              <a:tr h="210992">
                <a:tc>
                  <a:txBody>
                    <a:bodyPr/>
                    <a:lstStyle/>
                    <a:p>
                      <a:pPr algn="ctr">
                        <a:lnSpc>
                          <a:spcPts val="1800"/>
                        </a:lnSpc>
                      </a:pPr>
                      <a:r>
                        <a:rPr lang="en-US" altLang="zh-CN" sz="1400" dirty="0"/>
                        <a:t>A</a:t>
                      </a:r>
                      <a:endParaRPr lang="zh-CN" altLang="en-US" sz="14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00"/>
                        </a:lnSpc>
                      </a:pPr>
                      <a:r>
                        <a:rPr lang="en-US" altLang="zh-CN" sz="1400" dirty="0"/>
                        <a:t>100</a:t>
                      </a:r>
                      <a:endParaRPr lang="zh-CN" altLang="en-US" sz="1400" dirty="0"/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46318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5DD290E1-8CB3-47E9-8BF5-CBCD90497862}"/>
                  </a:ext>
                </a:extLst>
              </p:cNvPr>
              <p:cNvSpPr txBox="1"/>
              <p:nvPr/>
            </p:nvSpPr>
            <p:spPr>
              <a:xfrm>
                <a:off x="992661" y="6091922"/>
                <a:ext cx="2328458" cy="3030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  <m:r>
                          <m:rPr>
                            <m:nor/>
                          </m:rPr>
                          <a:rPr lang="zh-CN" altLang="en-US" dirty="0"/>
                          <m:t> 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</m:oMath>
                </a14:m>
                <a:r>
                  <a:rPr lang="en-US" altLang="zh-CN" dirty="0"/>
                  <a:t>=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𝑎𝑆</m:t>
                        </m:r>
                        <m:r>
                          <m:rPr>
                            <m:nor/>
                          </m:rPr>
                          <a:rPr lang="zh-CN" altLang="en-US" dirty="0"/>
                          <m:t> </m:t>
                        </m:r>
                      </m:e>
                    </m:rad>
                  </m:oMath>
                </a14:m>
                <a:r>
                  <a:rPr lang="en-US" altLang="zh-CN" dirty="0"/>
                  <a:t>=141.4mm/s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5DD290E1-8CB3-47E9-8BF5-CBCD904978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2661" y="6091922"/>
                <a:ext cx="2328458" cy="303096"/>
              </a:xfrm>
              <a:prstGeom prst="rect">
                <a:avLst/>
              </a:prstGeom>
              <a:blipFill>
                <a:blip r:embed="rId4"/>
                <a:stretch>
                  <a:fillRect l="-3665" t="-16000" r="-5497" b="-48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F2C84B63-D14F-4D5F-B2C0-0BC94D84A20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049973"/>
              </p:ext>
            </p:extLst>
          </p:nvPr>
        </p:nvGraphicFramePr>
        <p:xfrm>
          <a:off x="3924300" y="3022600"/>
          <a:ext cx="914400" cy="19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0" name="Equation" r:id="rId5" imgW="914400" imgH="198720" progId="Equation.DSMT4">
                  <p:embed/>
                </p:oleObj>
              </mc:Choice>
              <mc:Fallback>
                <p:oleObj name="Equation" r:id="rId5" imgW="914400" imgH="198720" progId="Equation.DSMT4">
                  <p:embed/>
                  <p:pic>
                    <p:nvPicPr>
                      <p:cNvPr id="13" name="对象 1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924300" y="3022600"/>
                        <a:ext cx="914400" cy="1984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8E224B0D-6971-4470-A46B-77F19BF2BF3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2459512"/>
              </p:ext>
            </p:extLst>
          </p:nvPr>
        </p:nvGraphicFramePr>
        <p:xfrm>
          <a:off x="3924300" y="3022600"/>
          <a:ext cx="914400" cy="19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1" name="Equation" r:id="rId7" imgW="914400" imgH="198720" progId="Equation.DSMT4">
                  <p:embed/>
                </p:oleObj>
              </mc:Choice>
              <mc:Fallback>
                <p:oleObj name="Equation" r:id="rId7" imgW="914400" imgH="198720" progId="Equation.DSMT4">
                  <p:embed/>
                  <p:pic>
                    <p:nvPicPr>
                      <p:cNvPr id="14" name="对象 1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924300" y="3022600"/>
                        <a:ext cx="914400" cy="1984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椭圆 12">
            <a:extLst>
              <a:ext uri="{FF2B5EF4-FFF2-40B4-BE49-F238E27FC236}">
                <a16:creationId xmlns:a16="http://schemas.microsoft.com/office/drawing/2014/main" id="{AE7A211D-8DCD-4E24-928A-FED9206AB9CA}"/>
              </a:ext>
            </a:extLst>
          </p:cNvPr>
          <p:cNvSpPr/>
          <p:nvPr/>
        </p:nvSpPr>
        <p:spPr>
          <a:xfrm>
            <a:off x="1264024" y="3953435"/>
            <a:ext cx="116541" cy="1972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BE22B87E-019D-4F07-90A4-1957504E7D15}"/>
              </a:ext>
            </a:extLst>
          </p:cNvPr>
          <p:cNvSpPr/>
          <p:nvPr/>
        </p:nvSpPr>
        <p:spPr>
          <a:xfrm>
            <a:off x="1573761" y="2393576"/>
            <a:ext cx="116541" cy="1972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73BEF365-AFA9-4115-A97B-46B1B6B7C05B}"/>
              </a:ext>
            </a:extLst>
          </p:cNvPr>
          <p:cNvSpPr/>
          <p:nvPr/>
        </p:nvSpPr>
        <p:spPr>
          <a:xfrm>
            <a:off x="1739152" y="2393576"/>
            <a:ext cx="116541" cy="1972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A5B7541E-E1CA-4EFF-9BA6-9F7CB51B0E3B}"/>
              </a:ext>
            </a:extLst>
          </p:cNvPr>
          <p:cNvSpPr/>
          <p:nvPr/>
        </p:nvSpPr>
        <p:spPr>
          <a:xfrm>
            <a:off x="2089654" y="3953435"/>
            <a:ext cx="116541" cy="1972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14897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9A24857-7C35-4FD3-B229-965B27110F66}"/>
              </a:ext>
            </a:extLst>
          </p:cNvPr>
          <p:cNvSpPr txBox="1"/>
          <p:nvPr/>
        </p:nvSpPr>
        <p:spPr>
          <a:xfrm>
            <a:off x="6093069" y="5574323"/>
            <a:ext cx="2206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位置、速度的变化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C1396DD-D643-4BD0-8BB7-DEC9BE8E4C6A}"/>
              </a:ext>
            </a:extLst>
          </p:cNvPr>
          <p:cNvSpPr/>
          <p:nvPr/>
        </p:nvSpPr>
        <p:spPr>
          <a:xfrm>
            <a:off x="201168" y="85636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dirty="0" err="1">
                <a:latin typeface="Menlo"/>
              </a:rPr>
              <a:t>moveabs</a:t>
            </a:r>
            <a:r>
              <a:rPr lang="en-US" altLang="zh-CN" dirty="0">
                <a:latin typeface="Menlo"/>
              </a:rPr>
              <a:t>(</a:t>
            </a:r>
            <a:r>
              <a:rPr lang="en-US" altLang="zh-CN" dirty="0">
                <a:solidFill>
                  <a:srgbClr val="AA04F9"/>
                </a:solidFill>
                <a:latin typeface="Menlo"/>
              </a:rPr>
              <a:t>'test1.dbf'</a:t>
            </a:r>
            <a:r>
              <a:rPr lang="en-US" altLang="zh-CN" dirty="0">
                <a:latin typeface="Menlo"/>
              </a:rPr>
              <a:t>,</a:t>
            </a:r>
            <a:r>
              <a:rPr lang="en-US" altLang="zh-CN" dirty="0">
                <a:solidFill>
                  <a:srgbClr val="AA04F9"/>
                </a:solidFill>
                <a:latin typeface="Menlo"/>
              </a:rPr>
              <a:t>'test1'</a:t>
            </a:r>
            <a:r>
              <a:rPr lang="en-US" altLang="zh-CN" dirty="0">
                <a:latin typeface="Menlo"/>
              </a:rPr>
              <a:t>,</a:t>
            </a:r>
            <a:r>
              <a:rPr lang="en-US" altLang="zh-CN" dirty="0">
                <a:solidFill>
                  <a:srgbClr val="AA04F9"/>
                </a:solidFill>
                <a:latin typeface="Menlo"/>
              </a:rPr>
              <a:t>'r'</a:t>
            </a:r>
            <a:r>
              <a:rPr lang="en-US" altLang="zh-CN" dirty="0">
                <a:latin typeface="Menlo"/>
              </a:rPr>
              <a:t>);</a:t>
            </a:r>
          </a:p>
          <a:p>
            <a:r>
              <a:rPr lang="en-US" altLang="zh-CN" dirty="0" err="1">
                <a:latin typeface="Menlo"/>
              </a:rPr>
              <a:t>moveabs</a:t>
            </a:r>
            <a:r>
              <a:rPr lang="en-US" altLang="zh-CN" dirty="0">
                <a:latin typeface="Menlo"/>
              </a:rPr>
              <a:t>(</a:t>
            </a:r>
            <a:r>
              <a:rPr lang="en-US" altLang="zh-CN" dirty="0">
                <a:solidFill>
                  <a:srgbClr val="AA04F9"/>
                </a:solidFill>
                <a:latin typeface="Menlo"/>
              </a:rPr>
              <a:t>'test2.dbf'</a:t>
            </a:r>
            <a:r>
              <a:rPr lang="en-US" altLang="zh-CN" dirty="0">
                <a:latin typeface="Menlo"/>
              </a:rPr>
              <a:t>,</a:t>
            </a:r>
            <a:r>
              <a:rPr lang="en-US" altLang="zh-CN" dirty="0">
                <a:solidFill>
                  <a:srgbClr val="AA04F9"/>
                </a:solidFill>
                <a:latin typeface="Menlo"/>
              </a:rPr>
              <a:t>'test2'</a:t>
            </a:r>
            <a:r>
              <a:rPr lang="en-US" altLang="zh-CN" dirty="0">
                <a:latin typeface="Menlo"/>
              </a:rPr>
              <a:t>,</a:t>
            </a:r>
            <a:r>
              <a:rPr lang="en-US" altLang="zh-CN" dirty="0">
                <a:solidFill>
                  <a:srgbClr val="AA04F9"/>
                </a:solidFill>
                <a:latin typeface="Menlo"/>
              </a:rPr>
              <a:t>'b'</a:t>
            </a:r>
            <a:r>
              <a:rPr lang="en-US" altLang="zh-CN" dirty="0">
                <a:latin typeface="Menlo"/>
              </a:rPr>
              <a:t>);</a:t>
            </a:r>
          </a:p>
          <a:p>
            <a:r>
              <a:rPr lang="en-US" altLang="zh-CN" dirty="0" err="1">
                <a:latin typeface="Menlo"/>
              </a:rPr>
              <a:t>moveabs</a:t>
            </a:r>
            <a:r>
              <a:rPr lang="en-US" altLang="zh-CN" dirty="0">
                <a:latin typeface="Menlo"/>
              </a:rPr>
              <a:t>(</a:t>
            </a:r>
            <a:r>
              <a:rPr lang="en-US" altLang="zh-CN" dirty="0">
                <a:solidFill>
                  <a:srgbClr val="AA04F9"/>
                </a:solidFill>
                <a:latin typeface="Menlo"/>
              </a:rPr>
              <a:t>'test3.dbf'</a:t>
            </a:r>
            <a:r>
              <a:rPr lang="en-US" altLang="zh-CN" dirty="0">
                <a:latin typeface="Menlo"/>
              </a:rPr>
              <a:t>,</a:t>
            </a:r>
            <a:r>
              <a:rPr lang="en-US" altLang="zh-CN" dirty="0">
                <a:solidFill>
                  <a:srgbClr val="AA04F9"/>
                </a:solidFill>
                <a:latin typeface="Menlo"/>
              </a:rPr>
              <a:t>'test3'</a:t>
            </a:r>
            <a:r>
              <a:rPr lang="en-US" altLang="zh-CN" dirty="0">
                <a:latin typeface="Menlo"/>
              </a:rPr>
              <a:t>,</a:t>
            </a:r>
            <a:r>
              <a:rPr lang="en-US" altLang="zh-CN" dirty="0">
                <a:solidFill>
                  <a:srgbClr val="AA04F9"/>
                </a:solidFill>
                <a:latin typeface="Menlo"/>
              </a:rPr>
              <a:t>'g'</a:t>
            </a:r>
            <a:r>
              <a:rPr lang="en-US" altLang="zh-CN" dirty="0">
                <a:latin typeface="Menlo"/>
              </a:rPr>
              <a:t>);</a:t>
            </a:r>
          </a:p>
          <a:p>
            <a:r>
              <a:rPr lang="en-US" altLang="zh-CN" dirty="0" err="1">
                <a:latin typeface="Menlo"/>
              </a:rPr>
              <a:t>moveabs</a:t>
            </a:r>
            <a:r>
              <a:rPr lang="en-US" altLang="zh-CN" dirty="0">
                <a:latin typeface="Menlo"/>
              </a:rPr>
              <a:t>(</a:t>
            </a:r>
            <a:r>
              <a:rPr lang="en-US" altLang="zh-CN" dirty="0">
                <a:solidFill>
                  <a:srgbClr val="AA04F9"/>
                </a:solidFill>
                <a:latin typeface="Menlo"/>
              </a:rPr>
              <a:t>'test4.dbf'</a:t>
            </a:r>
            <a:r>
              <a:rPr lang="en-US" altLang="zh-CN" dirty="0">
                <a:latin typeface="Menlo"/>
              </a:rPr>
              <a:t>,</a:t>
            </a:r>
            <a:r>
              <a:rPr lang="en-US" altLang="zh-CN" dirty="0">
                <a:solidFill>
                  <a:srgbClr val="AA04F9"/>
                </a:solidFill>
                <a:latin typeface="Menlo"/>
              </a:rPr>
              <a:t>'test4'</a:t>
            </a:r>
            <a:r>
              <a:rPr lang="en-US" altLang="zh-CN" dirty="0">
                <a:latin typeface="Menlo"/>
              </a:rPr>
              <a:t>,</a:t>
            </a:r>
            <a:r>
              <a:rPr lang="en-US" altLang="zh-CN" dirty="0">
                <a:solidFill>
                  <a:srgbClr val="AA04F9"/>
                </a:solidFill>
                <a:latin typeface="Menlo"/>
              </a:rPr>
              <a:t>'m'</a:t>
            </a:r>
            <a:r>
              <a:rPr lang="en-US" altLang="zh-CN" dirty="0">
                <a:latin typeface="Menlo"/>
              </a:rPr>
              <a:t>);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921EE23-DCA8-4B45-94E4-D892A7B93D1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426" r="7963"/>
          <a:stretch/>
        </p:blipFill>
        <p:spPr>
          <a:xfrm>
            <a:off x="501161" y="1758318"/>
            <a:ext cx="8071339" cy="489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02184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A7692E25-7AE6-49A2-BD3D-58E27CD2A63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629" r="6367"/>
          <a:stretch/>
        </p:blipFill>
        <p:spPr>
          <a:xfrm>
            <a:off x="377970" y="260536"/>
            <a:ext cx="5798712" cy="3054164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AFE69A43-56A1-4757-9FD4-7732ADC2750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375" t="2563" r="7240" b="3638"/>
          <a:stretch/>
        </p:blipFill>
        <p:spPr>
          <a:xfrm>
            <a:off x="342898" y="3200399"/>
            <a:ext cx="5755543" cy="3451413"/>
          </a:xfrm>
          <a:prstGeom prst="rect">
            <a:avLst/>
          </a:prstGeom>
        </p:spPr>
      </p:pic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4EC4910C-8525-43AC-8BC3-30E0CDABC75E}"/>
              </a:ext>
            </a:extLst>
          </p:cNvPr>
          <p:cNvCxnSpPr/>
          <p:nvPr/>
        </p:nvCxnSpPr>
        <p:spPr>
          <a:xfrm flipV="1">
            <a:off x="2032411" y="3871199"/>
            <a:ext cx="19309" cy="22739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140E054B-2DA9-415D-90F3-0DC6A946BF83}"/>
              </a:ext>
            </a:extLst>
          </p:cNvPr>
          <p:cNvCxnSpPr/>
          <p:nvPr/>
        </p:nvCxnSpPr>
        <p:spPr>
          <a:xfrm flipV="1">
            <a:off x="3275856" y="3827927"/>
            <a:ext cx="19309" cy="22739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89DB5D24-A80D-4116-90A8-434EA537118F}"/>
              </a:ext>
            </a:extLst>
          </p:cNvPr>
          <p:cNvCxnSpPr/>
          <p:nvPr/>
        </p:nvCxnSpPr>
        <p:spPr>
          <a:xfrm flipV="1">
            <a:off x="4624699" y="3827927"/>
            <a:ext cx="19309" cy="22739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D2671D5F-D5E0-4AFE-A45B-07326C1A79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5607233"/>
              </p:ext>
            </p:extLst>
          </p:nvPr>
        </p:nvGraphicFramePr>
        <p:xfrm>
          <a:off x="3926531" y="2347633"/>
          <a:ext cx="195035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50350">
                  <a:extLst>
                    <a:ext uri="{9D8B030D-6E8A-4147-A177-3AD203B41FA5}">
                      <a16:colId xmlns:a16="http://schemas.microsoft.com/office/drawing/2014/main" val="3385987392"/>
                    </a:ext>
                  </a:extLst>
                </a:gridCol>
              </a:tblGrid>
              <a:tr h="210992">
                <a:tc>
                  <a:txBody>
                    <a:bodyPr/>
                    <a:lstStyle/>
                    <a:p>
                      <a:pPr>
                        <a:lnSpc>
                          <a:spcPts val="1800"/>
                        </a:lnSpc>
                      </a:pPr>
                      <a:r>
                        <a:rPr lang="zh-CN" altLang="en-US" sz="1200" dirty="0"/>
                        <a:t>实线：插值位置</a:t>
                      </a:r>
                      <a:r>
                        <a:rPr lang="en-US" altLang="zh-CN" sz="1200" dirty="0"/>
                        <a:t>-</a:t>
                      </a:r>
                      <a:r>
                        <a:rPr lang="zh-CN" altLang="en-US" sz="1200" dirty="0"/>
                        <a:t>实际位置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2170214"/>
                  </a:ext>
                </a:extLst>
              </a:tr>
              <a:tr h="210992">
                <a:tc>
                  <a:txBody>
                    <a:bodyPr/>
                    <a:lstStyle/>
                    <a:p>
                      <a:pPr>
                        <a:lnSpc>
                          <a:spcPts val="1800"/>
                        </a:lnSpc>
                      </a:pPr>
                      <a:r>
                        <a:rPr lang="zh-CN" altLang="en-US" sz="1200" dirty="0"/>
                        <a:t>虚线：</a:t>
                      </a:r>
                      <a:r>
                        <a:rPr lang="en-US" altLang="zh-CN" sz="1200" dirty="0"/>
                        <a:t>IAC</a:t>
                      </a:r>
                      <a:r>
                        <a:rPr lang="zh-CN" altLang="en-US" sz="1200" dirty="0"/>
                        <a:t>控制器的跟随误差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7050913"/>
                  </a:ext>
                </a:extLst>
              </a:tr>
            </a:tbl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AD963A0F-9B8D-4B86-9A29-2E4A9019C6D1}"/>
              </a:ext>
            </a:extLst>
          </p:cNvPr>
          <p:cNvSpPr txBox="1"/>
          <p:nvPr/>
        </p:nvSpPr>
        <p:spPr>
          <a:xfrm>
            <a:off x="6355975" y="1093694"/>
            <a:ext cx="25728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运动过程中的位置误差变化，可以看到误差大小随着速度变大而变大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C3C8A1A-3150-433F-91E3-6269706FF050}"/>
              </a:ext>
            </a:extLst>
          </p:cNvPr>
          <p:cNvSpPr txBox="1"/>
          <p:nvPr/>
        </p:nvSpPr>
        <p:spPr>
          <a:xfrm>
            <a:off x="6176682" y="4503228"/>
            <a:ext cx="25728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达到目标位置时的误差变化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811C388-A8EB-431B-99EC-35CB79139425}"/>
              </a:ext>
            </a:extLst>
          </p:cNvPr>
          <p:cNvSpPr txBox="1"/>
          <p:nvPr/>
        </p:nvSpPr>
        <p:spPr>
          <a:xfrm>
            <a:off x="1026199" y="4213412"/>
            <a:ext cx="399189" cy="519351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B3CBCF3-FCBA-458C-8A89-6DCE338A76BA}"/>
              </a:ext>
            </a:extLst>
          </p:cNvPr>
          <p:cNvSpPr txBox="1"/>
          <p:nvPr/>
        </p:nvSpPr>
        <p:spPr>
          <a:xfrm>
            <a:off x="2330834" y="4213412"/>
            <a:ext cx="399189" cy="519351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37C407D-1047-41FA-9009-4E75261F6A0F}"/>
              </a:ext>
            </a:extLst>
          </p:cNvPr>
          <p:cNvSpPr txBox="1"/>
          <p:nvPr/>
        </p:nvSpPr>
        <p:spPr>
          <a:xfrm>
            <a:off x="3472174" y="4213412"/>
            <a:ext cx="399189" cy="519351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99FF9EA-07BE-42B0-931E-A281354CBF4E}"/>
              </a:ext>
            </a:extLst>
          </p:cNvPr>
          <p:cNvSpPr txBox="1"/>
          <p:nvPr/>
        </p:nvSpPr>
        <p:spPr>
          <a:xfrm>
            <a:off x="5083064" y="4204229"/>
            <a:ext cx="399189" cy="519351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410732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3429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MoveAbsRestBase</a:t>
            </a:r>
            <a:r>
              <a:rPr lang="zh-CN" altLang="en-US" dirty="0"/>
              <a:t>（</a:t>
            </a:r>
            <a:r>
              <a:rPr lang="en-US" altLang="zh-CN" dirty="0"/>
              <a:t>Move ABS2</a:t>
            </a:r>
            <a:r>
              <a:rPr lang="zh-CN" altLang="en-US" dirty="0"/>
              <a:t>）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642918"/>
            <a:ext cx="3781423" cy="22850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矩形 3"/>
          <p:cNvSpPr/>
          <p:nvPr/>
        </p:nvSpPr>
        <p:spPr>
          <a:xfrm>
            <a:off x="214282" y="3143248"/>
            <a:ext cx="8501122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u"/>
            </a:pPr>
            <a:r>
              <a:rPr lang="en-US" altLang="zh-CN" dirty="0"/>
              <a:t>The axis travels to the first target position with the applied velocity "Velocity1".</a:t>
            </a:r>
          </a:p>
          <a:p>
            <a:pPr>
              <a:buFont typeface="Wingdings" pitchFamily="2" charset="2"/>
              <a:buChar char="u"/>
            </a:pPr>
            <a:r>
              <a:rPr lang="en-US" altLang="zh-CN" dirty="0"/>
              <a:t>From this position, the axis moves to the second target position with the remaining velocity "Velocity2".</a:t>
            </a:r>
          </a:p>
          <a:p>
            <a:pPr>
              <a:buFont typeface="Wingdings" pitchFamily="2" charset="2"/>
              <a:buChar char="u"/>
            </a:pPr>
            <a:r>
              <a:rPr lang="en-US" altLang="zh-CN" dirty="0"/>
              <a:t>If the second target position is located behind the first target position (seen from the starting position), the second target position is directly approached with "Velocity2".</a:t>
            </a:r>
          </a:p>
          <a:p>
            <a:pPr>
              <a:buFont typeface="Wingdings" pitchFamily="2" charset="2"/>
              <a:buChar char="u"/>
            </a:pPr>
            <a:r>
              <a:rPr lang="en-US" altLang="zh-CN" dirty="0"/>
              <a:t>WAB (path-dependent braking) is described in the function block </a:t>
            </a:r>
            <a:r>
              <a:rPr lang="en-US" altLang="zh-CN" dirty="0" err="1"/>
              <a:t>MB_MoveAbsPDB</a:t>
            </a:r>
            <a:r>
              <a:rPr lang="en-US" altLang="zh-CN" dirty="0"/>
              <a:t>.</a:t>
            </a:r>
            <a:endParaRPr lang="zh-CN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6402731"/>
              </p:ext>
            </p:extLst>
          </p:nvPr>
        </p:nvGraphicFramePr>
        <p:xfrm>
          <a:off x="5076056" y="404664"/>
          <a:ext cx="2881060" cy="192024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073460">
                  <a:extLst>
                    <a:ext uri="{9D8B030D-6E8A-4147-A177-3AD203B41FA5}">
                      <a16:colId xmlns:a16="http://schemas.microsoft.com/office/drawing/2014/main" val="1035929369"/>
                    </a:ext>
                  </a:extLst>
                </a:gridCol>
                <a:gridCol w="807600">
                  <a:extLst>
                    <a:ext uri="{9D8B030D-6E8A-4147-A177-3AD203B41FA5}">
                      <a16:colId xmlns:a16="http://schemas.microsoft.com/office/drawing/2014/main" val="2145776040"/>
                    </a:ext>
                  </a:extLst>
                </a:gridCol>
              </a:tblGrid>
              <a:tr h="264000"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Moevabs2 parameter set</a:t>
                      </a:r>
                      <a:endParaRPr lang="zh-CN" altLang="en-US" b="0" i="0" dirty="0"/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lang="zh-CN" altLang="en-US" b="0" i="0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7905395"/>
                  </a:ext>
                </a:extLst>
              </a:tr>
              <a:tr h="264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Position1[mm]</a:t>
                      </a:r>
                      <a:endParaRPr lang="zh-CN" altLang="en-US" b="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endParaRPr lang="zh-CN" altLang="en-US" b="0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489562682"/>
                  </a:ext>
                </a:extLst>
              </a:tr>
              <a:tr h="264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0" dirty="0"/>
                        <a:t>Velocity1[mm/s]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endParaRPr lang="zh-CN" altLang="en-US" b="0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389465972"/>
                  </a:ext>
                </a:extLst>
              </a:tr>
              <a:tr h="264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Position2[mm]</a:t>
                      </a:r>
                      <a:endParaRPr lang="zh-CN" altLang="en-US" b="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endParaRPr lang="zh-CN" altLang="en-US" b="0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684896458"/>
                  </a:ext>
                </a:extLst>
              </a:tr>
              <a:tr h="264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0" dirty="0"/>
                        <a:t>Velocity2[mm/s]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endParaRPr lang="zh-CN" altLang="en-US" b="0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507692494"/>
                  </a:ext>
                </a:extLst>
              </a:tr>
              <a:tr h="264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acceleration[mm^2/s]</a:t>
                      </a:r>
                      <a:endParaRPr lang="en-US" altLang="zh-CN" b="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endParaRPr lang="zh-CN" altLang="en-US" b="0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2938888"/>
                  </a:ext>
                </a:extLst>
              </a:tr>
              <a:tr h="264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deceleration[mm^2/s]</a:t>
                      </a:r>
                      <a:endParaRPr lang="zh-CN" altLang="en-US" b="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endParaRPr lang="zh-CN" altLang="en-US" b="0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061038212"/>
                  </a:ext>
                </a:extLst>
              </a:tr>
            </a:tbl>
          </a:graphicData>
        </a:graphic>
      </p:graphicFrame>
      <p:cxnSp>
        <p:nvCxnSpPr>
          <p:cNvPr id="6" name="直接连接符 5"/>
          <p:cNvCxnSpPr/>
          <p:nvPr/>
        </p:nvCxnSpPr>
        <p:spPr>
          <a:xfrm>
            <a:off x="1619672" y="5373216"/>
            <a:ext cx="41044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1187624" y="5346586"/>
            <a:ext cx="13093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当前位置</a:t>
            </a:r>
            <a:endParaRPr lang="zh-CN" altLang="en-US" dirty="0"/>
          </a:p>
        </p:txBody>
      </p:sp>
      <p:sp>
        <p:nvSpPr>
          <p:cNvPr id="9" name="椭圆 8"/>
          <p:cNvSpPr/>
          <p:nvPr/>
        </p:nvSpPr>
        <p:spPr>
          <a:xfrm>
            <a:off x="1619672" y="5327497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/>
          <p:cNvSpPr/>
          <p:nvPr/>
        </p:nvSpPr>
        <p:spPr>
          <a:xfrm>
            <a:off x="3429024" y="5354064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/>
          <p:cNvSpPr/>
          <p:nvPr/>
        </p:nvSpPr>
        <p:spPr>
          <a:xfrm>
            <a:off x="5674585" y="5303107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2797225" y="5373216"/>
            <a:ext cx="13093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position1</a:t>
            </a:r>
            <a:endParaRPr lang="zh-CN" altLang="en-US" dirty="0"/>
          </a:p>
        </p:txBody>
      </p:sp>
      <p:sp>
        <p:nvSpPr>
          <p:cNvPr id="14" name="文本框 13"/>
          <p:cNvSpPr txBox="1"/>
          <p:nvPr/>
        </p:nvSpPr>
        <p:spPr>
          <a:xfrm>
            <a:off x="5018894" y="5375456"/>
            <a:ext cx="13093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position2</a:t>
            </a:r>
            <a:endParaRPr lang="zh-CN" altLang="en-US" dirty="0"/>
          </a:p>
        </p:txBody>
      </p:sp>
      <p:cxnSp>
        <p:nvCxnSpPr>
          <p:cNvPr id="15" name="直接连接符 14"/>
          <p:cNvCxnSpPr/>
          <p:nvPr/>
        </p:nvCxnSpPr>
        <p:spPr>
          <a:xfrm>
            <a:off x="1763688" y="6220430"/>
            <a:ext cx="41044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1331640" y="6193800"/>
            <a:ext cx="13093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当前位置</a:t>
            </a:r>
            <a:endParaRPr lang="zh-CN" altLang="en-US" dirty="0"/>
          </a:p>
        </p:txBody>
      </p:sp>
      <p:sp>
        <p:nvSpPr>
          <p:cNvPr id="17" name="椭圆 16"/>
          <p:cNvSpPr/>
          <p:nvPr/>
        </p:nvSpPr>
        <p:spPr>
          <a:xfrm>
            <a:off x="1763688" y="6174711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/>
          <p:cNvSpPr/>
          <p:nvPr/>
        </p:nvSpPr>
        <p:spPr>
          <a:xfrm>
            <a:off x="3573040" y="6201278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椭圆 18"/>
          <p:cNvSpPr/>
          <p:nvPr/>
        </p:nvSpPr>
        <p:spPr>
          <a:xfrm>
            <a:off x="5818601" y="6150321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2941241" y="6220430"/>
            <a:ext cx="13093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position2</a:t>
            </a:r>
            <a:endParaRPr lang="zh-CN" altLang="en-US" dirty="0"/>
          </a:p>
        </p:txBody>
      </p:sp>
      <p:sp>
        <p:nvSpPr>
          <p:cNvPr id="21" name="文本框 20"/>
          <p:cNvSpPr txBox="1"/>
          <p:nvPr/>
        </p:nvSpPr>
        <p:spPr>
          <a:xfrm>
            <a:off x="5076056" y="6228688"/>
            <a:ext cx="13093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position1</a:t>
            </a:r>
            <a:endParaRPr lang="zh-CN" alt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3429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MoveAbsRestBase</a:t>
            </a:r>
            <a:r>
              <a:rPr lang="zh-CN" altLang="en-US" dirty="0"/>
              <a:t>（</a:t>
            </a:r>
            <a:r>
              <a:rPr lang="en-US" altLang="zh-CN" dirty="0"/>
              <a:t>Move ABS2</a:t>
            </a:r>
            <a:r>
              <a:rPr lang="zh-CN" altLang="en-US" dirty="0"/>
              <a:t>）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682809"/>
            <a:ext cx="3600400" cy="2639756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0032" y="682809"/>
            <a:ext cx="3816424" cy="2474543"/>
          </a:xfrm>
          <a:prstGeom prst="rect">
            <a:avLst/>
          </a:prstGeom>
        </p:spPr>
      </p:pic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2475812"/>
              </p:ext>
            </p:extLst>
          </p:nvPr>
        </p:nvGraphicFramePr>
        <p:xfrm>
          <a:off x="531087" y="3801504"/>
          <a:ext cx="2881060" cy="192024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073460">
                  <a:extLst>
                    <a:ext uri="{9D8B030D-6E8A-4147-A177-3AD203B41FA5}">
                      <a16:colId xmlns:a16="http://schemas.microsoft.com/office/drawing/2014/main" val="1035929369"/>
                    </a:ext>
                  </a:extLst>
                </a:gridCol>
                <a:gridCol w="807600">
                  <a:extLst>
                    <a:ext uri="{9D8B030D-6E8A-4147-A177-3AD203B41FA5}">
                      <a16:colId xmlns:a16="http://schemas.microsoft.com/office/drawing/2014/main" val="2145776040"/>
                    </a:ext>
                  </a:extLst>
                </a:gridCol>
              </a:tblGrid>
              <a:tr h="264000"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Moevabs2 parameter set</a:t>
                      </a:r>
                      <a:endParaRPr lang="zh-CN" altLang="en-US" b="0" i="0" dirty="0"/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lang="zh-CN" altLang="en-US" b="0" i="0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7905395"/>
                  </a:ext>
                </a:extLst>
              </a:tr>
              <a:tr h="264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Position1[mm]</a:t>
                      </a:r>
                      <a:endParaRPr lang="zh-CN" altLang="en-US" b="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/>
                        <a:t>150</a:t>
                      </a:r>
                      <a:endParaRPr lang="zh-CN" altLang="en-US" b="0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489562682"/>
                  </a:ext>
                </a:extLst>
              </a:tr>
              <a:tr h="264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0" dirty="0"/>
                        <a:t>Velocity1[mm/s]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/>
                        <a:t>60</a:t>
                      </a:r>
                      <a:endParaRPr lang="zh-CN" altLang="en-US" b="0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389465972"/>
                  </a:ext>
                </a:extLst>
              </a:tr>
              <a:tr h="264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Position2[mm]</a:t>
                      </a:r>
                      <a:endParaRPr lang="zh-CN" altLang="en-US" b="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/>
                        <a:t>200</a:t>
                      </a:r>
                      <a:endParaRPr lang="zh-CN" altLang="en-US" b="0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684896458"/>
                  </a:ext>
                </a:extLst>
              </a:tr>
              <a:tr h="264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0" dirty="0"/>
                        <a:t>Velocity2[mm/s]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/>
                        <a:t>5</a:t>
                      </a:r>
                      <a:endParaRPr lang="zh-CN" altLang="en-US" b="0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507692494"/>
                  </a:ext>
                </a:extLst>
              </a:tr>
              <a:tr h="264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acceleration[mm^2/s]</a:t>
                      </a:r>
                      <a:endParaRPr lang="en-US" altLang="zh-CN" b="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/>
                        <a:t>50</a:t>
                      </a:r>
                      <a:endParaRPr lang="zh-CN" altLang="en-US" b="0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2938888"/>
                  </a:ext>
                </a:extLst>
              </a:tr>
              <a:tr h="264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deceleration[mm^2/s]</a:t>
                      </a:r>
                      <a:endParaRPr lang="zh-CN" altLang="en-US" b="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/>
                        <a:t>50</a:t>
                      </a:r>
                      <a:endParaRPr lang="zh-CN" altLang="en-US" b="0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061038212"/>
                  </a:ext>
                </a:extLst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53259"/>
              </p:ext>
            </p:extLst>
          </p:nvPr>
        </p:nvGraphicFramePr>
        <p:xfrm>
          <a:off x="5220072" y="3801504"/>
          <a:ext cx="2881060" cy="192024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073460">
                  <a:extLst>
                    <a:ext uri="{9D8B030D-6E8A-4147-A177-3AD203B41FA5}">
                      <a16:colId xmlns:a16="http://schemas.microsoft.com/office/drawing/2014/main" val="1035929369"/>
                    </a:ext>
                  </a:extLst>
                </a:gridCol>
                <a:gridCol w="807600">
                  <a:extLst>
                    <a:ext uri="{9D8B030D-6E8A-4147-A177-3AD203B41FA5}">
                      <a16:colId xmlns:a16="http://schemas.microsoft.com/office/drawing/2014/main" val="2145776040"/>
                    </a:ext>
                  </a:extLst>
                </a:gridCol>
              </a:tblGrid>
              <a:tr h="264000"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Moevabs2 parameter set</a:t>
                      </a:r>
                      <a:endParaRPr lang="zh-CN" altLang="en-US" b="0" i="0" dirty="0"/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lang="zh-CN" altLang="en-US" b="0" i="0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7905395"/>
                  </a:ext>
                </a:extLst>
              </a:tr>
              <a:tr h="264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Position1[mm]</a:t>
                      </a:r>
                      <a:endParaRPr lang="zh-CN" altLang="en-US" b="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/>
                        <a:t>150</a:t>
                      </a:r>
                      <a:endParaRPr lang="zh-CN" altLang="en-US" b="0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489562682"/>
                  </a:ext>
                </a:extLst>
              </a:tr>
              <a:tr h="264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0" dirty="0"/>
                        <a:t>Velocity1[mm/s]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/>
                        <a:t>60</a:t>
                      </a:r>
                      <a:endParaRPr lang="zh-CN" altLang="en-US" b="0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389465972"/>
                  </a:ext>
                </a:extLst>
              </a:tr>
              <a:tr h="264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Position2[mm]</a:t>
                      </a:r>
                      <a:endParaRPr lang="zh-CN" altLang="en-US" b="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/>
                        <a:t>120</a:t>
                      </a:r>
                      <a:endParaRPr lang="zh-CN" altLang="en-US" b="0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684896458"/>
                  </a:ext>
                </a:extLst>
              </a:tr>
              <a:tr h="264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0" dirty="0"/>
                        <a:t>Velocity2[mm/s]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/>
                        <a:t>5</a:t>
                      </a:r>
                      <a:endParaRPr lang="zh-CN" altLang="en-US" b="0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507692494"/>
                  </a:ext>
                </a:extLst>
              </a:tr>
              <a:tr h="264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acceleration[mm^2/s]</a:t>
                      </a:r>
                      <a:endParaRPr lang="en-US" altLang="zh-CN" b="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/>
                        <a:t>50</a:t>
                      </a:r>
                      <a:endParaRPr lang="zh-CN" altLang="en-US" b="0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2938888"/>
                  </a:ext>
                </a:extLst>
              </a:tr>
              <a:tr h="264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deceleration[mm^2/s]</a:t>
                      </a:r>
                      <a:endParaRPr lang="zh-CN" altLang="en-US" b="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/>
                        <a:t>50</a:t>
                      </a:r>
                      <a:endParaRPr lang="zh-CN" altLang="en-US" b="0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061038212"/>
                  </a:ext>
                </a:extLst>
              </a:tr>
            </a:tbl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711477" y="3432172"/>
            <a:ext cx="2520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当前位置：</a:t>
            </a:r>
            <a:r>
              <a:rPr lang="en-US" altLang="zh-CN" dirty="0"/>
              <a:t>50</a:t>
            </a:r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5207456" y="3432172"/>
            <a:ext cx="2520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当前位置：</a:t>
            </a:r>
            <a:r>
              <a:rPr lang="en-US" altLang="zh-CN" dirty="0"/>
              <a:t>50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76829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5231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Move ABSPDB</a:t>
            </a:r>
            <a:endParaRPr lang="zh-CN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571480"/>
            <a:ext cx="4657730" cy="21369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8233255"/>
              </p:ext>
            </p:extLst>
          </p:nvPr>
        </p:nvGraphicFramePr>
        <p:xfrm>
          <a:off x="5041155" y="1888781"/>
          <a:ext cx="3012268" cy="10972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043354">
                  <a:extLst>
                    <a:ext uri="{9D8B030D-6E8A-4147-A177-3AD203B41FA5}">
                      <a16:colId xmlns:a16="http://schemas.microsoft.com/office/drawing/2014/main" val="1035929369"/>
                    </a:ext>
                  </a:extLst>
                </a:gridCol>
                <a:gridCol w="968914">
                  <a:extLst>
                    <a:ext uri="{9D8B030D-6E8A-4147-A177-3AD203B41FA5}">
                      <a16:colId xmlns:a16="http://schemas.microsoft.com/office/drawing/2014/main" val="2145776040"/>
                    </a:ext>
                  </a:extLst>
                </a:gridCol>
              </a:tblGrid>
              <a:tr h="264000"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PDB parameter set</a:t>
                      </a:r>
                      <a:endParaRPr lang="zh-CN" altLang="en-US" b="0" i="0" dirty="0"/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lang="zh-CN" altLang="en-US" b="0" i="0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7905395"/>
                  </a:ext>
                </a:extLst>
              </a:tr>
              <a:tr h="264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Brake character</a:t>
                      </a:r>
                      <a:endParaRPr lang="zh-CN" altLang="en-US" b="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endParaRPr lang="zh-CN" altLang="en-US" b="0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489562682"/>
                  </a:ext>
                </a:extLst>
              </a:tr>
              <a:tr h="264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PDB window[mm]</a:t>
                      </a:r>
                      <a:endParaRPr lang="en-US" altLang="zh-CN" b="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altLang="zh-CN" b="0" dirty="0"/>
                        <a:t>10</a:t>
                      </a:r>
                      <a:endParaRPr lang="zh-CN" altLang="en-US" b="0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2938888"/>
                  </a:ext>
                </a:extLst>
              </a:tr>
              <a:tr h="264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Rest velocity[mm/s]</a:t>
                      </a:r>
                      <a:endParaRPr lang="zh-CN" altLang="en-US" b="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altLang="zh-CN" b="0" dirty="0"/>
                        <a:t>5</a:t>
                      </a:r>
                      <a:endParaRPr lang="zh-CN" altLang="en-US" b="0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061038212"/>
                  </a:ext>
                </a:extLst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9502347"/>
              </p:ext>
            </p:extLst>
          </p:nvPr>
        </p:nvGraphicFramePr>
        <p:xfrm>
          <a:off x="5076056" y="458412"/>
          <a:ext cx="3012268" cy="137160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043354">
                  <a:extLst>
                    <a:ext uri="{9D8B030D-6E8A-4147-A177-3AD203B41FA5}">
                      <a16:colId xmlns:a16="http://schemas.microsoft.com/office/drawing/2014/main" val="1035929369"/>
                    </a:ext>
                  </a:extLst>
                </a:gridCol>
                <a:gridCol w="968914">
                  <a:extLst>
                    <a:ext uri="{9D8B030D-6E8A-4147-A177-3AD203B41FA5}">
                      <a16:colId xmlns:a16="http://schemas.microsoft.com/office/drawing/2014/main" val="2145776040"/>
                    </a:ext>
                  </a:extLst>
                </a:gridCol>
              </a:tblGrid>
              <a:tr h="264000"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err="1"/>
                        <a:t>Moevabs</a:t>
                      </a:r>
                      <a:r>
                        <a:rPr lang="en-US" altLang="zh-CN" dirty="0"/>
                        <a:t> parameter set</a:t>
                      </a:r>
                      <a:endParaRPr lang="zh-CN" altLang="en-US" b="0" i="0" dirty="0"/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lang="zh-CN" altLang="en-US" b="0" i="0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7905395"/>
                  </a:ext>
                </a:extLst>
              </a:tr>
              <a:tr h="264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Position[mm]</a:t>
                      </a:r>
                      <a:endParaRPr lang="zh-CN" altLang="en-US" b="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altLang="zh-CN" b="0" dirty="0"/>
                        <a:t>250</a:t>
                      </a:r>
                      <a:endParaRPr lang="zh-CN" altLang="en-US" b="0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489562682"/>
                  </a:ext>
                </a:extLst>
              </a:tr>
              <a:tr h="264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0" dirty="0"/>
                        <a:t>Velocity[mm/s]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r>
                        <a:rPr lang="en-US" altLang="zh-CN" b="0" dirty="0"/>
                        <a:t>100</a:t>
                      </a:r>
                      <a:endParaRPr lang="zh-CN" altLang="en-US" b="0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389465972"/>
                  </a:ext>
                </a:extLst>
              </a:tr>
              <a:tr h="264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acceleration[mm^2/s]</a:t>
                      </a:r>
                      <a:endParaRPr lang="en-US" altLang="zh-CN" b="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endParaRPr lang="zh-CN" altLang="en-US" b="0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2938888"/>
                  </a:ext>
                </a:extLst>
              </a:tr>
              <a:tr h="264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deceleration[mm^2/s]</a:t>
                      </a:r>
                      <a:endParaRPr lang="zh-CN" altLang="en-US" b="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endParaRPr lang="zh-CN" altLang="en-US" b="0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061038212"/>
                  </a:ext>
                </a:extLst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5292080" y="30311"/>
            <a:ext cx="2520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当前位置：</a:t>
            </a:r>
            <a:r>
              <a:rPr lang="en-US" altLang="zh-CN" dirty="0"/>
              <a:t>50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339CD52-DAC5-4566-B502-A50B5850E8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125" y="2910570"/>
            <a:ext cx="8356521" cy="391712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0045E0F4-D272-4B1B-9868-76A341EF97F0}"/>
              </a:ext>
            </a:extLst>
          </p:cNvPr>
          <p:cNvSpPr/>
          <p:nvPr/>
        </p:nvSpPr>
        <p:spPr>
          <a:xfrm>
            <a:off x="4058323" y="4566321"/>
            <a:ext cx="4968552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pdb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zh-CN" sz="1400" dirty="0">
                <a:solidFill>
                  <a:srgbClr val="A020F0"/>
                </a:solidFill>
                <a:latin typeface="Courier New" panose="02070309020205020404" pitchFamily="49" charset="0"/>
              </a:rPr>
              <a:t>'pdb_1.dbf'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  <a:r>
              <a:rPr lang="en-US" altLang="zh-CN" sz="1400" dirty="0">
                <a:solidFill>
                  <a:srgbClr val="A020F0"/>
                </a:solidFill>
                <a:latin typeface="Courier New" panose="02070309020205020404" pitchFamily="49" charset="0"/>
              </a:rPr>
              <a:t>'pdb_1'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  <a:r>
              <a:rPr lang="en-US" altLang="zh-CN" sz="1400" dirty="0">
                <a:solidFill>
                  <a:srgbClr val="A020F0"/>
                </a:solidFill>
                <a:latin typeface="Courier New" panose="02070309020205020404" pitchFamily="49" charset="0"/>
              </a:rPr>
              <a:t>'r'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  <a:r>
              <a:rPr lang="en-US" altLang="zh-CN" sz="1400" dirty="0">
                <a:solidFill>
                  <a:srgbClr val="3C763D"/>
                </a:solidFill>
                <a:latin typeface="Courier New" panose="02070309020205020404" pitchFamily="49" charset="0"/>
              </a:rPr>
              <a:t>%character=100</a:t>
            </a:r>
          </a:p>
          <a:p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pdb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zh-CN" sz="1400" dirty="0">
                <a:solidFill>
                  <a:srgbClr val="A020F0"/>
                </a:solidFill>
                <a:latin typeface="Courier New" panose="02070309020205020404" pitchFamily="49" charset="0"/>
              </a:rPr>
              <a:t>'pdb_2.dbf'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  <a:r>
              <a:rPr lang="en-US" altLang="zh-CN" sz="1400" dirty="0">
                <a:solidFill>
                  <a:srgbClr val="A020F0"/>
                </a:solidFill>
                <a:latin typeface="Courier New" panose="02070309020205020404" pitchFamily="49" charset="0"/>
              </a:rPr>
              <a:t>'pdb_2'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  <a:r>
              <a:rPr lang="en-US" altLang="zh-CN" sz="1400" dirty="0">
                <a:solidFill>
                  <a:srgbClr val="A020F0"/>
                </a:solidFill>
                <a:latin typeface="Courier New" panose="02070309020205020404" pitchFamily="49" charset="0"/>
              </a:rPr>
              <a:t>'b'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  <a:r>
              <a:rPr lang="en-US" altLang="zh-CN" sz="1400" dirty="0">
                <a:solidFill>
                  <a:srgbClr val="3C763D"/>
                </a:solidFill>
                <a:latin typeface="Courier New" panose="02070309020205020404" pitchFamily="49" charset="0"/>
              </a:rPr>
              <a:t>%character=80</a:t>
            </a:r>
          </a:p>
          <a:p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pdb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zh-CN" sz="1400" dirty="0">
                <a:solidFill>
                  <a:srgbClr val="A020F0"/>
                </a:solidFill>
                <a:latin typeface="Courier New" panose="02070309020205020404" pitchFamily="49" charset="0"/>
              </a:rPr>
              <a:t>'pdb_3.dbf'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  <a:r>
              <a:rPr lang="en-US" altLang="zh-CN" sz="1400" dirty="0">
                <a:solidFill>
                  <a:srgbClr val="A020F0"/>
                </a:solidFill>
                <a:latin typeface="Courier New" panose="02070309020205020404" pitchFamily="49" charset="0"/>
              </a:rPr>
              <a:t>'pdb_3'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  <a:r>
              <a:rPr lang="en-US" altLang="zh-CN" sz="1400" dirty="0">
                <a:solidFill>
                  <a:srgbClr val="A020F0"/>
                </a:solidFill>
                <a:latin typeface="Courier New" panose="02070309020205020404" pitchFamily="49" charset="0"/>
              </a:rPr>
              <a:t>'g'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  <a:r>
              <a:rPr lang="en-US" altLang="zh-CN" sz="1400" dirty="0">
                <a:solidFill>
                  <a:srgbClr val="3C763D"/>
                </a:solidFill>
                <a:latin typeface="Courier New" panose="02070309020205020404" pitchFamily="49" charset="0"/>
              </a:rPr>
              <a:t>%character=60</a:t>
            </a:r>
          </a:p>
          <a:p>
            <a:r>
              <a:rPr lang="en-US" altLang="zh-CN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pdb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zh-CN" sz="1400" dirty="0">
                <a:solidFill>
                  <a:srgbClr val="A020F0"/>
                </a:solidFill>
                <a:latin typeface="Courier New" panose="02070309020205020404" pitchFamily="49" charset="0"/>
              </a:rPr>
              <a:t>'pdb_4.dbf'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  <a:r>
              <a:rPr lang="en-US" altLang="zh-CN" sz="1400" dirty="0">
                <a:solidFill>
                  <a:srgbClr val="A020F0"/>
                </a:solidFill>
                <a:latin typeface="Courier New" panose="02070309020205020404" pitchFamily="49" charset="0"/>
              </a:rPr>
              <a:t>'pdb_4'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  <a:r>
              <a:rPr lang="en-US" altLang="zh-CN" sz="1400" dirty="0">
                <a:solidFill>
                  <a:srgbClr val="A020F0"/>
                </a:solidFill>
                <a:latin typeface="Courier New" panose="02070309020205020404" pitchFamily="49" charset="0"/>
              </a:rPr>
              <a:t>'m'</a:t>
            </a:r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  <a:r>
              <a:rPr lang="en-US" altLang="zh-CN" sz="1400" dirty="0">
                <a:solidFill>
                  <a:srgbClr val="3C763D"/>
                </a:solidFill>
                <a:latin typeface="Courier New" panose="02070309020205020404" pitchFamily="49" charset="0"/>
              </a:rPr>
              <a:t>%character=20</a:t>
            </a:r>
          </a:p>
        </p:txBody>
      </p:sp>
      <p:sp>
        <p:nvSpPr>
          <p:cNvPr id="9" name="矩形 8"/>
          <p:cNvSpPr/>
          <p:nvPr/>
        </p:nvSpPr>
        <p:spPr>
          <a:xfrm>
            <a:off x="4594693" y="5527299"/>
            <a:ext cx="4572000" cy="73866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1400" dirty="0" smtClean="0"/>
              <a:t>1</a:t>
            </a:r>
            <a:r>
              <a:rPr lang="zh-CN" altLang="en-US" sz="1400" dirty="0" smtClean="0"/>
              <a:t>、使用</a:t>
            </a:r>
            <a:r>
              <a:rPr lang="en-US" altLang="zh-CN" sz="1400" dirty="0" err="1" smtClean="0"/>
              <a:t>MoveABS</a:t>
            </a:r>
            <a:r>
              <a:rPr lang="zh-CN" altLang="en-US" sz="1400" dirty="0" smtClean="0"/>
              <a:t>运动到初始位置</a:t>
            </a:r>
            <a:endParaRPr lang="en-US" altLang="zh-CN" sz="1400" dirty="0" smtClean="0"/>
          </a:p>
          <a:p>
            <a:r>
              <a:rPr lang="en-US" altLang="zh-CN" sz="1400" dirty="0" smtClean="0"/>
              <a:t>2</a:t>
            </a:r>
            <a:r>
              <a:rPr lang="zh-CN" altLang="en-US" sz="1400" dirty="0" smtClean="0"/>
              <a:t>、使用</a:t>
            </a:r>
            <a:r>
              <a:rPr lang="en-US" altLang="zh-CN" sz="1400" dirty="0" smtClean="0"/>
              <a:t>Mode AH</a:t>
            </a:r>
            <a:r>
              <a:rPr lang="zh-CN" altLang="en-US" sz="1400" dirty="0" smtClean="0"/>
              <a:t>指令，保持当前</a:t>
            </a:r>
            <a:r>
              <a:rPr lang="zh-CN" altLang="en-US" sz="1400" dirty="0" smtClean="0"/>
              <a:t>位置</a:t>
            </a:r>
            <a:endParaRPr lang="en-US" altLang="zh-CN" sz="1400" dirty="0" smtClean="0"/>
          </a:p>
          <a:p>
            <a:r>
              <a:rPr lang="en-US" altLang="zh-CN" sz="1400" dirty="0" smtClean="0"/>
              <a:t>3</a:t>
            </a:r>
            <a:r>
              <a:rPr lang="zh-CN" altLang="en-US" sz="1400" dirty="0" smtClean="0"/>
              <a:t>、更改</a:t>
            </a:r>
            <a:r>
              <a:rPr lang="en-US" altLang="zh-CN" sz="1400" dirty="0" smtClean="0"/>
              <a:t>PDB</a:t>
            </a:r>
            <a:r>
              <a:rPr lang="zh-CN" altLang="en-US" sz="1400" dirty="0" smtClean="0"/>
              <a:t>需要的参数，点击</a:t>
            </a:r>
            <a:r>
              <a:rPr lang="en-US" altLang="zh-CN" sz="1400" dirty="0" smtClean="0"/>
              <a:t>PDB</a:t>
            </a:r>
            <a:r>
              <a:rPr lang="zh-CN" altLang="en-US" sz="1400" dirty="0" smtClean="0"/>
              <a:t>，执行</a:t>
            </a:r>
            <a:r>
              <a:rPr lang="en-US" altLang="zh-CN" sz="1400" dirty="0" smtClean="0"/>
              <a:t>PDB</a:t>
            </a:r>
            <a:r>
              <a:rPr lang="zh-CN" altLang="en-US" sz="1400" dirty="0" smtClean="0"/>
              <a:t>运动。</a:t>
            </a:r>
            <a:endParaRPr lang="en-US" altLang="zh-CN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0"/>
            <a:ext cx="6021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Step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064525E-598F-435F-816C-ACDC6734B4BA}"/>
              </a:ext>
            </a:extLst>
          </p:cNvPr>
          <p:cNvSpPr txBox="1"/>
          <p:nvPr/>
        </p:nvSpPr>
        <p:spPr>
          <a:xfrm>
            <a:off x="336173" y="291417"/>
            <a:ext cx="60063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PID</a:t>
            </a:r>
            <a:r>
              <a:rPr lang="zh-CN" altLang="en-US" dirty="0"/>
              <a:t>比例环节</a:t>
            </a:r>
            <a:endParaRPr lang="en-US" altLang="zh-CN" dirty="0"/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CFA272A6-0B33-4495-A538-A49A4B2D28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0485182"/>
              </p:ext>
            </p:extLst>
          </p:nvPr>
        </p:nvGraphicFramePr>
        <p:xfrm>
          <a:off x="1317807" y="291417"/>
          <a:ext cx="5082992" cy="16230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1496">
                  <a:extLst>
                    <a:ext uri="{9D8B030D-6E8A-4147-A177-3AD203B41FA5}">
                      <a16:colId xmlns:a16="http://schemas.microsoft.com/office/drawing/2014/main" val="869902611"/>
                    </a:ext>
                  </a:extLst>
                </a:gridCol>
                <a:gridCol w="2541496">
                  <a:extLst>
                    <a:ext uri="{9D8B030D-6E8A-4147-A177-3AD203B41FA5}">
                      <a16:colId xmlns:a16="http://schemas.microsoft.com/office/drawing/2014/main" val="208622022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r>
                        <a:rPr lang="en-US" altLang="zh-CN" sz="1400" dirty="0" err="1"/>
                        <a:t>Kv</a:t>
                      </a:r>
                      <a:endParaRPr lang="zh-CN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</a:t>
                      </a:r>
                      <a:r>
                        <a:rPr lang="zh-CN" altLang="en-US" sz="1400" dirty="0" smtClean="0"/>
                        <a:t>和</a:t>
                      </a:r>
                      <a:r>
                        <a:rPr lang="en-US" altLang="zh-CN" sz="1400" dirty="0" smtClean="0"/>
                        <a:t>2</a:t>
                      </a:r>
                      <a:r>
                        <a:rPr lang="zh-CN" altLang="en-US" sz="1400" dirty="0" smtClean="0"/>
                        <a:t>实验台从</a:t>
                      </a:r>
                      <a:r>
                        <a:rPr lang="en-US" altLang="zh-CN" sz="1400" dirty="0" smtClean="0"/>
                        <a:t>0.5</a:t>
                      </a:r>
                      <a:r>
                        <a:rPr lang="zh-CN" altLang="en-US" sz="1400" dirty="0" smtClean="0"/>
                        <a:t>开始慢慢改变</a:t>
                      </a:r>
                      <a:endParaRPr lang="en-US" altLang="zh-CN" sz="1400" dirty="0" smtClean="0"/>
                    </a:p>
                    <a:p>
                      <a:r>
                        <a:rPr lang="en-US" altLang="zh-CN" sz="1400" dirty="0" smtClean="0"/>
                        <a:t>3</a:t>
                      </a:r>
                      <a:r>
                        <a:rPr lang="zh-CN" altLang="en-US" sz="1400" dirty="0" smtClean="0"/>
                        <a:t>和</a:t>
                      </a:r>
                      <a:r>
                        <a:rPr lang="en-US" altLang="zh-CN" sz="1400" dirty="0" smtClean="0"/>
                        <a:t>4</a:t>
                      </a:r>
                      <a:r>
                        <a:rPr lang="zh-CN" altLang="en-US" sz="1400" dirty="0" smtClean="0"/>
                        <a:t>实验台从</a:t>
                      </a:r>
                      <a:r>
                        <a:rPr lang="en-US" altLang="zh-CN" sz="1400" dirty="0" smtClean="0"/>
                        <a:t>4.5</a:t>
                      </a:r>
                      <a:r>
                        <a:rPr lang="zh-CN" altLang="en-US" sz="1400" dirty="0" smtClean="0"/>
                        <a:t>开始慢慢改变</a:t>
                      </a:r>
                      <a:endParaRPr lang="zh-CN" alt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8745708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Integration</a:t>
                      </a:r>
                      <a:r>
                        <a:rPr lang="en-US" altLang="zh-CN" sz="1400" baseline="0" dirty="0"/>
                        <a:t> time constant</a:t>
                      </a:r>
                      <a:endParaRPr lang="zh-CN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0</a:t>
                      </a:r>
                      <a:r>
                        <a:rPr lang="zh-CN" altLang="en-US" sz="1400" dirty="0"/>
                        <a:t>（代表无积分）</a:t>
                      </a:r>
                      <a:endParaRPr lang="en-US" altLang="zh-CN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57183107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standard</a:t>
                      </a:r>
                      <a:endParaRPr lang="zh-CN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固定：</a:t>
                      </a:r>
                      <a:r>
                        <a:rPr lang="en-US" altLang="zh-CN" sz="1400" dirty="0"/>
                        <a:t>200</a:t>
                      </a:r>
                      <a:endParaRPr lang="zh-CN" alt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43495972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n-US" altLang="zh-CN" sz="1400" dirty="0" err="1"/>
                        <a:t>dir</a:t>
                      </a:r>
                      <a:endParaRPr lang="zh-CN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如：</a:t>
                      </a:r>
                      <a:r>
                        <a:rPr lang="en-US" altLang="zh-CN" sz="1400" dirty="0"/>
                        <a:t>1.9</a:t>
                      </a:r>
                      <a:endParaRPr lang="zh-CN" alt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24147225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offset</a:t>
                      </a:r>
                      <a:endParaRPr lang="zh-CN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如：</a:t>
                      </a:r>
                      <a:r>
                        <a:rPr lang="en-US" altLang="zh-CN" sz="1400" dirty="0"/>
                        <a:t>0.7</a:t>
                      </a:r>
                      <a:endParaRPr lang="zh-CN" alt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560146172"/>
                  </a:ext>
                </a:extLst>
              </a:tr>
            </a:tbl>
          </a:graphicData>
        </a:graphic>
      </p:graphicFrame>
      <p:pic>
        <p:nvPicPr>
          <p:cNvPr id="8" name="图片 7">
            <a:extLst>
              <a:ext uri="{FF2B5EF4-FFF2-40B4-BE49-F238E27FC236}">
                <a16:creationId xmlns:a16="http://schemas.microsoft.com/office/drawing/2014/main" id="{26F59FD8-4E6B-42DF-9953-87377A84D85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229" t="3904" r="7884" b="4701"/>
          <a:stretch/>
        </p:blipFill>
        <p:spPr>
          <a:xfrm>
            <a:off x="636492" y="1900518"/>
            <a:ext cx="7915835" cy="4428566"/>
          </a:xfrm>
          <a:prstGeom prst="rect">
            <a:avLst/>
          </a:prstGeom>
        </p:spPr>
      </p:pic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A562DCE2-0EDB-4A2A-8F9D-C61CD27F33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0424154"/>
              </p:ext>
            </p:extLst>
          </p:nvPr>
        </p:nvGraphicFramePr>
        <p:xfrm>
          <a:off x="7095562" y="4114801"/>
          <a:ext cx="1125074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537">
                  <a:extLst>
                    <a:ext uri="{9D8B030D-6E8A-4147-A177-3AD203B41FA5}">
                      <a16:colId xmlns:a16="http://schemas.microsoft.com/office/drawing/2014/main" val="2841207234"/>
                    </a:ext>
                  </a:extLst>
                </a:gridCol>
                <a:gridCol w="562537">
                  <a:extLst>
                    <a:ext uri="{9D8B030D-6E8A-4147-A177-3AD203B41FA5}">
                      <a16:colId xmlns:a16="http://schemas.microsoft.com/office/drawing/2014/main" val="1803633813"/>
                    </a:ext>
                  </a:extLst>
                </a:gridCol>
              </a:tblGrid>
              <a:tr h="138513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ts val="1800"/>
                        </a:lnSpc>
                      </a:pPr>
                      <a:r>
                        <a:rPr lang="en-US" altLang="zh-CN" sz="12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Kv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ts val="1800"/>
                        </a:lnSpc>
                      </a:pPr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Color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953561825"/>
                  </a:ext>
                </a:extLst>
              </a:tr>
              <a:tr h="138513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ts val="1800"/>
                        </a:lnSpc>
                      </a:pPr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0.5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ts val="1800"/>
                        </a:lnSpc>
                      </a:pPr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839488798"/>
                  </a:ext>
                </a:extLst>
              </a:tr>
              <a:tr h="138513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ts val="1800"/>
                        </a:lnSpc>
                      </a:pPr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0.6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ts val="1800"/>
                        </a:lnSpc>
                      </a:pPr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546159002"/>
                  </a:ext>
                </a:extLst>
              </a:tr>
              <a:tr h="138513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ts val="1800"/>
                        </a:lnSpc>
                      </a:pPr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0.7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ts val="1800"/>
                        </a:lnSpc>
                      </a:pPr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479120519"/>
                  </a:ext>
                </a:extLst>
              </a:tr>
              <a:tr h="138513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ts val="1800"/>
                        </a:lnSpc>
                      </a:pPr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0.8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ts val="1800"/>
                        </a:lnSpc>
                      </a:pPr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993821012"/>
                  </a:ext>
                </a:extLst>
              </a:tr>
              <a:tr h="138513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ts val="1800"/>
                        </a:lnSpc>
                      </a:pPr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0.9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ts val="1800"/>
                        </a:lnSpc>
                      </a:pPr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47967964"/>
                  </a:ext>
                </a:extLst>
              </a:tr>
              <a:tr h="138513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ts val="1800"/>
                        </a:lnSpc>
                      </a:pPr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1.0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ts val="1800"/>
                        </a:lnSpc>
                      </a:pPr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k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112134255"/>
                  </a:ext>
                </a:extLst>
              </a:tr>
              <a:tr h="138513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ts val="1800"/>
                        </a:lnSpc>
                      </a:pPr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1.1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ts val="1800"/>
                        </a:lnSpc>
                      </a:pPr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8167524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53911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6021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Step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3983131-0A58-4941-9A08-B52ED7D1E5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173" y="1858365"/>
            <a:ext cx="7688251" cy="401800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C1F26070-669E-4938-BBFF-4C44097B315D}"/>
              </a:ext>
            </a:extLst>
          </p:cNvPr>
          <p:cNvSpPr txBox="1"/>
          <p:nvPr/>
        </p:nvSpPr>
        <p:spPr>
          <a:xfrm>
            <a:off x="336173" y="291417"/>
            <a:ext cx="60063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PID</a:t>
            </a:r>
            <a:r>
              <a:rPr lang="zh-CN" altLang="en-US" dirty="0"/>
              <a:t>积分环节</a:t>
            </a:r>
            <a:endParaRPr lang="en-US" altLang="zh-CN" dirty="0"/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AB4A6440-5520-462B-8D7C-46BD443948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0500717"/>
              </p:ext>
            </p:extLst>
          </p:nvPr>
        </p:nvGraphicFramePr>
        <p:xfrm>
          <a:off x="1317807" y="291417"/>
          <a:ext cx="5082992" cy="1409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1496">
                  <a:extLst>
                    <a:ext uri="{9D8B030D-6E8A-4147-A177-3AD203B41FA5}">
                      <a16:colId xmlns:a16="http://schemas.microsoft.com/office/drawing/2014/main" val="869902611"/>
                    </a:ext>
                  </a:extLst>
                </a:gridCol>
                <a:gridCol w="2541496">
                  <a:extLst>
                    <a:ext uri="{9D8B030D-6E8A-4147-A177-3AD203B41FA5}">
                      <a16:colId xmlns:a16="http://schemas.microsoft.com/office/drawing/2014/main" val="208622022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r>
                        <a:rPr lang="en-US" altLang="zh-CN" sz="1400" dirty="0" err="1"/>
                        <a:t>Kv</a:t>
                      </a:r>
                      <a:endParaRPr lang="zh-CN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0.8</a:t>
                      </a:r>
                      <a:endParaRPr lang="zh-CN" alt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8745708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Integration</a:t>
                      </a:r>
                      <a:r>
                        <a:rPr lang="en-US" altLang="zh-CN" sz="1400" baseline="0" dirty="0"/>
                        <a:t> time constant</a:t>
                      </a:r>
                      <a:endParaRPr lang="zh-CN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改变</a:t>
                      </a:r>
                      <a:endParaRPr lang="en-US" altLang="zh-CN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57183107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standard</a:t>
                      </a:r>
                      <a:endParaRPr lang="zh-CN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固定：</a:t>
                      </a:r>
                      <a:r>
                        <a:rPr lang="en-US" altLang="zh-CN" sz="1400" dirty="0"/>
                        <a:t>200</a:t>
                      </a:r>
                      <a:endParaRPr lang="zh-CN" alt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43495972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n-US" altLang="zh-CN" sz="1400" dirty="0" err="1"/>
                        <a:t>dir</a:t>
                      </a:r>
                      <a:endParaRPr lang="zh-CN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如：</a:t>
                      </a:r>
                      <a:r>
                        <a:rPr lang="en-US" altLang="zh-CN" sz="1400" dirty="0"/>
                        <a:t>1.9</a:t>
                      </a:r>
                      <a:endParaRPr lang="zh-CN" alt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24147225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offset</a:t>
                      </a:r>
                      <a:endParaRPr lang="zh-CN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如：</a:t>
                      </a:r>
                      <a:r>
                        <a:rPr lang="en-US" altLang="zh-CN" sz="1400" dirty="0"/>
                        <a:t>0.7</a:t>
                      </a:r>
                      <a:endParaRPr lang="zh-CN" alt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560146172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5100FCE5-696B-4FCE-A471-4D5C31BD6D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3244329"/>
              </p:ext>
            </p:extLst>
          </p:nvPr>
        </p:nvGraphicFramePr>
        <p:xfrm>
          <a:off x="5952563" y="3630706"/>
          <a:ext cx="1125074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537">
                  <a:extLst>
                    <a:ext uri="{9D8B030D-6E8A-4147-A177-3AD203B41FA5}">
                      <a16:colId xmlns:a16="http://schemas.microsoft.com/office/drawing/2014/main" val="2841207234"/>
                    </a:ext>
                  </a:extLst>
                </a:gridCol>
                <a:gridCol w="562537">
                  <a:extLst>
                    <a:ext uri="{9D8B030D-6E8A-4147-A177-3AD203B41FA5}">
                      <a16:colId xmlns:a16="http://schemas.microsoft.com/office/drawing/2014/main" val="1803633813"/>
                    </a:ext>
                  </a:extLst>
                </a:gridCol>
              </a:tblGrid>
              <a:tr h="138513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ts val="1800"/>
                        </a:lnSpc>
                      </a:pPr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ts val="1800"/>
                        </a:lnSpc>
                      </a:pPr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Color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953561825"/>
                  </a:ext>
                </a:extLst>
              </a:tr>
              <a:tr h="138513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ts val="1800"/>
                        </a:lnSpc>
                      </a:pPr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ts val="1800"/>
                        </a:lnSpc>
                      </a:pPr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839488798"/>
                  </a:ext>
                </a:extLst>
              </a:tr>
              <a:tr h="138513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ts val="1800"/>
                        </a:lnSpc>
                      </a:pPr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500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ts val="1800"/>
                        </a:lnSpc>
                      </a:pPr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546159002"/>
                  </a:ext>
                </a:extLst>
              </a:tr>
              <a:tr h="138513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ts val="1800"/>
                        </a:lnSpc>
                      </a:pPr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400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ts val="1800"/>
                        </a:lnSpc>
                      </a:pPr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479120519"/>
                  </a:ext>
                </a:extLst>
              </a:tr>
              <a:tr h="138513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ts val="1800"/>
                        </a:lnSpc>
                      </a:pPr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300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ts val="1800"/>
                        </a:lnSpc>
                      </a:pPr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993821012"/>
                  </a:ext>
                </a:extLst>
              </a:tr>
              <a:tr h="138513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ts val="1800"/>
                        </a:lnSpc>
                      </a:pPr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200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ts val="1800"/>
                        </a:lnSpc>
                      </a:pPr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47967964"/>
                  </a:ext>
                </a:extLst>
              </a:tr>
              <a:tr h="138513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ts val="1800"/>
                        </a:lnSpc>
                      </a:pPr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ts val="1800"/>
                        </a:lnSpc>
                      </a:pPr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k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112134255"/>
                  </a:ext>
                </a:extLst>
              </a:tr>
            </a:tbl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04FC37B5-8354-4598-889A-965143CE7E45}"/>
              </a:ext>
            </a:extLst>
          </p:cNvPr>
          <p:cNvSpPr txBox="1"/>
          <p:nvPr/>
        </p:nvSpPr>
        <p:spPr>
          <a:xfrm>
            <a:off x="4607859" y="5961529"/>
            <a:ext cx="36934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Kv</a:t>
            </a:r>
            <a:r>
              <a:rPr lang="en-US" altLang="zh-CN" dirty="0"/>
              <a:t>=0.8</a:t>
            </a:r>
            <a:r>
              <a:rPr lang="zh-CN" altLang="en-US" dirty="0"/>
              <a:t>，</a:t>
            </a:r>
            <a:r>
              <a:rPr lang="en-US" altLang="zh-CN" dirty="0"/>
              <a:t>I=300~400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420358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15B10155-9607-4A7F-9B68-570702A783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1737606"/>
              </p:ext>
            </p:extLst>
          </p:nvPr>
        </p:nvGraphicFramePr>
        <p:xfrm>
          <a:off x="1317807" y="291417"/>
          <a:ext cx="5082992" cy="1409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1496">
                  <a:extLst>
                    <a:ext uri="{9D8B030D-6E8A-4147-A177-3AD203B41FA5}">
                      <a16:colId xmlns:a16="http://schemas.microsoft.com/office/drawing/2014/main" val="869902611"/>
                    </a:ext>
                  </a:extLst>
                </a:gridCol>
                <a:gridCol w="2541496">
                  <a:extLst>
                    <a:ext uri="{9D8B030D-6E8A-4147-A177-3AD203B41FA5}">
                      <a16:colId xmlns:a16="http://schemas.microsoft.com/office/drawing/2014/main" val="208622022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r>
                        <a:rPr lang="en-US" altLang="zh-CN" sz="1400" dirty="0" err="1"/>
                        <a:t>Kv</a:t>
                      </a:r>
                      <a:endParaRPr lang="zh-CN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0.9</a:t>
                      </a:r>
                      <a:endParaRPr lang="zh-CN" alt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8745708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Integration</a:t>
                      </a:r>
                      <a:r>
                        <a:rPr lang="en-US" altLang="zh-CN" sz="1400" baseline="0" dirty="0"/>
                        <a:t> time constant</a:t>
                      </a:r>
                      <a:endParaRPr lang="zh-CN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改变</a:t>
                      </a:r>
                      <a:endParaRPr lang="en-US" altLang="zh-CN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57183107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standard</a:t>
                      </a:r>
                      <a:endParaRPr lang="zh-CN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固定：</a:t>
                      </a:r>
                      <a:r>
                        <a:rPr lang="en-US" altLang="zh-CN" sz="1400" dirty="0"/>
                        <a:t>200</a:t>
                      </a:r>
                      <a:endParaRPr lang="zh-CN" alt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43495972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n-US" altLang="zh-CN" sz="1400" dirty="0" err="1"/>
                        <a:t>dir</a:t>
                      </a:r>
                      <a:endParaRPr lang="zh-CN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如：</a:t>
                      </a:r>
                      <a:r>
                        <a:rPr lang="en-US" altLang="zh-CN" sz="1400" dirty="0"/>
                        <a:t>1.9</a:t>
                      </a:r>
                      <a:endParaRPr lang="zh-CN" alt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24147225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offset</a:t>
                      </a:r>
                      <a:endParaRPr lang="zh-CN" alt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如：</a:t>
                      </a:r>
                      <a:r>
                        <a:rPr lang="en-US" altLang="zh-CN" sz="1400" dirty="0"/>
                        <a:t>0.7</a:t>
                      </a:r>
                      <a:endParaRPr lang="zh-CN" alt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560146172"/>
                  </a:ext>
                </a:extLst>
              </a:tr>
            </a:tbl>
          </a:graphicData>
        </a:graphic>
      </p:graphicFrame>
      <p:pic>
        <p:nvPicPr>
          <p:cNvPr id="8" name="图片 7">
            <a:extLst>
              <a:ext uri="{FF2B5EF4-FFF2-40B4-BE49-F238E27FC236}">
                <a16:creationId xmlns:a16="http://schemas.microsoft.com/office/drawing/2014/main" id="{334296FD-F997-409C-97E4-E6C69918EC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867" y="2219535"/>
            <a:ext cx="9256501" cy="4534600"/>
          </a:xfrm>
          <a:prstGeom prst="rect">
            <a:avLst/>
          </a:prstGeom>
        </p:spPr>
      </p:pic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330D02F6-EB1E-4E6C-BF3A-8705842572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9286918"/>
              </p:ext>
            </p:extLst>
          </p:nvPr>
        </p:nvGraphicFramePr>
        <p:xfrm>
          <a:off x="6553199" y="4258236"/>
          <a:ext cx="1125074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537">
                  <a:extLst>
                    <a:ext uri="{9D8B030D-6E8A-4147-A177-3AD203B41FA5}">
                      <a16:colId xmlns:a16="http://schemas.microsoft.com/office/drawing/2014/main" val="2841207234"/>
                    </a:ext>
                  </a:extLst>
                </a:gridCol>
                <a:gridCol w="562537">
                  <a:extLst>
                    <a:ext uri="{9D8B030D-6E8A-4147-A177-3AD203B41FA5}">
                      <a16:colId xmlns:a16="http://schemas.microsoft.com/office/drawing/2014/main" val="1803633813"/>
                    </a:ext>
                  </a:extLst>
                </a:gridCol>
              </a:tblGrid>
              <a:tr h="138513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ts val="1800"/>
                        </a:lnSpc>
                      </a:pPr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ts val="1800"/>
                        </a:lnSpc>
                      </a:pPr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Color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953561825"/>
                  </a:ext>
                </a:extLst>
              </a:tr>
              <a:tr h="138513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ts val="1800"/>
                        </a:lnSpc>
                      </a:pPr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ts val="1800"/>
                        </a:lnSpc>
                      </a:pPr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839488798"/>
                  </a:ext>
                </a:extLst>
              </a:tr>
              <a:tr h="138513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ts val="1800"/>
                        </a:lnSpc>
                      </a:pPr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500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ts val="1800"/>
                        </a:lnSpc>
                      </a:pPr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546159002"/>
                  </a:ext>
                </a:extLst>
              </a:tr>
              <a:tr h="138513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ts val="1800"/>
                        </a:lnSpc>
                      </a:pPr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400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ts val="1800"/>
                        </a:lnSpc>
                      </a:pPr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479120519"/>
                  </a:ext>
                </a:extLst>
              </a:tr>
              <a:tr h="138513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ts val="1800"/>
                        </a:lnSpc>
                      </a:pPr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300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ts val="1800"/>
                        </a:lnSpc>
                      </a:pPr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993821012"/>
                  </a:ext>
                </a:extLst>
              </a:tr>
              <a:tr h="138513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ts val="1800"/>
                        </a:lnSpc>
                      </a:pPr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200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ts val="1800"/>
                        </a:lnSpc>
                      </a:pPr>
                      <a:r>
                        <a:rPr lang="en-US" altLang="zh-CN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  <a:endParaRPr lang="zh-CN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47967964"/>
                  </a:ext>
                </a:extLst>
              </a:tr>
            </a:tbl>
          </a:graphicData>
        </a:graphic>
      </p:graphicFrame>
      <p:sp>
        <p:nvSpPr>
          <p:cNvPr id="13" name="文本框 12">
            <a:extLst>
              <a:ext uri="{FF2B5EF4-FFF2-40B4-BE49-F238E27FC236}">
                <a16:creationId xmlns:a16="http://schemas.microsoft.com/office/drawing/2014/main" id="{91DC38FF-93AE-4F2D-B196-29208432DEC4}"/>
              </a:ext>
            </a:extLst>
          </p:cNvPr>
          <p:cNvSpPr txBox="1"/>
          <p:nvPr/>
        </p:nvSpPr>
        <p:spPr>
          <a:xfrm>
            <a:off x="470643" y="257603"/>
            <a:ext cx="60063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PID</a:t>
            </a:r>
            <a:r>
              <a:rPr lang="zh-CN" altLang="en-US" dirty="0"/>
              <a:t>积分环节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1644820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4753</TotalTime>
  <Words>1080</Words>
  <Application>Microsoft Office PowerPoint</Application>
  <PresentationFormat>全屏显示(4:3)</PresentationFormat>
  <Paragraphs>372</Paragraphs>
  <Slides>19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9" baseType="lpstr">
      <vt:lpstr>Menlo</vt:lpstr>
      <vt:lpstr>等线</vt:lpstr>
      <vt:lpstr>宋体</vt:lpstr>
      <vt:lpstr>Arial</vt:lpstr>
      <vt:lpstr>Calibri</vt:lpstr>
      <vt:lpstr>Cambria Math</vt:lpstr>
      <vt:lpstr>Courier New</vt:lpstr>
      <vt:lpstr>Wingdings</vt:lpstr>
      <vt:lpstr>Office 主题</vt:lpstr>
      <vt:lpstr>Equation</vt:lpstr>
      <vt:lpstr>机电液一体化实验台 实验二：位置控制实验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ThinkPad</dc:creator>
  <cp:lastModifiedBy>DELL</cp:lastModifiedBy>
  <cp:revision>177</cp:revision>
  <dcterms:created xsi:type="dcterms:W3CDTF">2022-04-20T09:01:03Z</dcterms:created>
  <dcterms:modified xsi:type="dcterms:W3CDTF">2025-05-08T00:44:22Z</dcterms:modified>
</cp:coreProperties>
</file>